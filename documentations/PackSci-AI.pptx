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PackSci AI as a decision-support system that recommends food packaging materials from food properties. It supports experts; it does not replace lab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Packaging selection is a multi-parameter problem: moisture, oxidation, microbes, temperature, respiration and mechanical damage all matter differently per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architecture: a deterministic decision engine chooses and scores materials; the RAG pipeline plus Groq LLM only explains the choice using retrieved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properties become engineering constraints, unsuitable materials are filtered, and the rest are rated on several criteria. More important criteria for that food count more, and ratings combine into one overall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documents are chunked, embedded and stored in Qdrant. Relevant evidence is retrieved and passed to the LLM to produce a grounded, source-referenced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illustrative, literature-informed scenarios: strawberry, potato chips and fresh meat. These are prototype examples, not validated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bcrypt, JWT, protected routes, backend-only keys, per-user data isolation. PostgreSQL stores traceable history; Qdrant stores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sustainability potential and roadmap: validated datasets, lab validation, IoT sensors, real-time monitoring, and edge deployment.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D1D"/>
        </a:solidFill>
      </p:bgPr>
    </p:bg>
    <p:spTree>
      <p:nvGrpSpPr>
        <p:cNvPr id="1" name=""/>
        <p:cNvGrpSpPr/>
        <p:nvPr/>
      </p:nvGrpSpPr>
      <p:grpSpPr>
        <a:xfrm>
          <a:off x="0" y="0"/>
          <a:ext cx="0" cy="0"/>
          <a:chOff x="0" y="0"/>
          <a:chExt cx="0" cy="0"/>
        </a:xfrm>
      </p:grpSpPr>
      <p:pic>
        <p:nvPicPr>
          <p:cNvPr id="2" name="Image 0" descr="public/images/hero-film.png">    </p:cNvPr>
          <p:cNvPicPr>
            <a:picLocks noChangeAspect="1"/>
          </p:cNvPicPr>
          <p:nvPr/>
        </p:nvPicPr>
        <p:blipFill>
          <a:blip r:embed="rId1"/>
          <a:srcRect l="0" r="0" t="0" b="0"/>
          <a:stretch/>
        </p:blipFill>
        <p:spPr>
          <a:xfrm>
            <a:off x="6675120" y="0"/>
            <a:ext cx="5513832" cy="6858000"/>
          </a:xfrm>
          <a:prstGeom prst="rect">
            <a:avLst/>
          </a:prstGeom>
        </p:spPr>
      </p:pic>
      <p:sp>
        <p:nvSpPr>
          <p:cNvPr id="3" name="Text 0"/>
          <p:cNvSpPr/>
          <p:nvPr/>
        </p:nvSpPr>
        <p:spPr>
          <a:xfrm>
            <a:off x="640080" y="731520"/>
            <a:ext cx="54864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FINAL-YEAR ENGINEERING PROJECT · PROJECT DEFENSE</a:t>
            </a:r>
            <a:endParaRPr lang="en-US" sz="1000" dirty="0"/>
          </a:p>
        </p:txBody>
      </p:sp>
      <p:sp>
        <p:nvSpPr>
          <p:cNvPr id="4" name="Text 1"/>
          <p:cNvSpPr/>
          <p:nvPr/>
        </p:nvSpPr>
        <p:spPr>
          <a:xfrm>
            <a:off x="640080" y="1097280"/>
            <a:ext cx="5943600" cy="1188720"/>
          </a:xfrm>
          <a:prstGeom prst="rect">
            <a:avLst/>
          </a:prstGeom>
          <a:noFill/>
          <a:ln/>
        </p:spPr>
        <p:txBody>
          <a:bodyPr wrap="square" rtlCol="0" anchor="ctr"/>
          <a:lstStyle/>
          <a:p>
            <a:pPr indent="0" marL="0">
              <a:buNone/>
            </a:pPr>
            <a:r>
              <a:rPr lang="en-US" sz="6600" b="1" dirty="0">
                <a:solidFill>
                  <a:srgbClr val="EFF7F3"/>
                </a:solidFill>
                <a:latin typeface="Calibri" pitchFamily="34" charset="0"/>
                <a:ea typeface="Calibri" pitchFamily="34" charset="-122"/>
                <a:cs typeface="Calibri" pitchFamily="34" charset="-120"/>
              </a:rPr>
              <a:t>PackSci</a:t>
            </a:r>
            <a:pPr indent="0" marL="0">
              <a:buNone/>
            </a:pPr>
            <a:r>
              <a:rPr lang="en-US" sz="6600" b="1" dirty="0">
                <a:solidFill>
                  <a:srgbClr val="3FCB9A"/>
                </a:solidFill>
                <a:latin typeface="Calibri" pitchFamily="34" charset="0"/>
                <a:ea typeface="Calibri" pitchFamily="34" charset="-122"/>
                <a:cs typeface="Calibri" pitchFamily="34" charset="-120"/>
              </a:rPr>
              <a:t> AI</a:t>
            </a:r>
            <a:endParaRPr lang="en-US" sz="6600" dirty="0"/>
          </a:p>
        </p:txBody>
      </p:sp>
      <p:sp>
        <p:nvSpPr>
          <p:cNvPr id="5" name="Text 2"/>
          <p:cNvSpPr/>
          <p:nvPr/>
        </p:nvSpPr>
        <p:spPr>
          <a:xfrm>
            <a:off x="640080" y="2286000"/>
            <a:ext cx="5760720" cy="822960"/>
          </a:xfrm>
          <a:prstGeom prst="rect">
            <a:avLst/>
          </a:prstGeom>
          <a:noFill/>
          <a:ln/>
        </p:spPr>
        <p:txBody>
          <a:bodyPr wrap="square" rtlCol="0" anchor="ctr"/>
          <a:lstStyle/>
          <a:p>
            <a:pPr indent="0" marL="0">
              <a:buNone/>
            </a:pPr>
            <a:r>
              <a:rPr lang="en-US" sz="2000" dirty="0">
                <a:solidFill>
                  <a:srgbClr val="EFF7F3"/>
                </a:solidFill>
                <a:latin typeface="Calibri" pitchFamily="34" charset="0"/>
                <a:ea typeface="Calibri" pitchFamily="34" charset="-122"/>
                <a:cs typeface="Calibri" pitchFamily="34" charset="-120"/>
              </a:rPr>
              <a:t>AI-Based Intelligent Food Packaging Material Recommendation System</a:t>
            </a:r>
            <a:endParaRPr lang="en-US" sz="2000" dirty="0"/>
          </a:p>
        </p:txBody>
      </p:sp>
      <p:sp>
        <p:nvSpPr>
          <p:cNvPr id="6" name="Text 3"/>
          <p:cNvSpPr/>
          <p:nvPr/>
        </p:nvSpPr>
        <p:spPr>
          <a:xfrm>
            <a:off x="640080" y="3154680"/>
            <a:ext cx="5760720" cy="365760"/>
          </a:xfrm>
          <a:prstGeom prst="rect">
            <a:avLst/>
          </a:prstGeom>
          <a:noFill/>
          <a:ln/>
        </p:spPr>
        <p:txBody>
          <a:bodyPr wrap="square" rtlCol="0" anchor="ctr"/>
          <a:lstStyle/>
          <a:p>
            <a:pPr indent="0" marL="0">
              <a:buNone/>
            </a:pPr>
            <a:r>
              <a:rPr lang="en-US" sz="1400" i="1" dirty="0">
                <a:solidFill>
                  <a:srgbClr val="BDEBD6"/>
                </a:solidFill>
                <a:latin typeface="Calibri" pitchFamily="34" charset="0"/>
                <a:ea typeface="Calibri" pitchFamily="34" charset="-122"/>
                <a:cs typeface="Calibri" pitchFamily="34" charset="-120"/>
              </a:rPr>
              <a:t>"From Food Properties to Intelligent Packaging Decisions."</a:t>
            </a:r>
            <a:endParaRPr lang="en-US" sz="1400" dirty="0"/>
          </a:p>
        </p:txBody>
      </p:sp>
      <p:sp>
        <p:nvSpPr>
          <p:cNvPr id="7" name="Text 4"/>
          <p:cNvSpPr/>
          <p:nvPr/>
        </p:nvSpPr>
        <p:spPr>
          <a:xfrm>
            <a:off x="640080" y="393192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STUDENTS</a:t>
            </a:r>
            <a:endParaRPr lang="en-US" sz="1000" dirty="0"/>
          </a:p>
        </p:txBody>
      </p:sp>
      <p:sp>
        <p:nvSpPr>
          <p:cNvPr id="8" name="Text 5"/>
          <p:cNvSpPr/>
          <p:nvPr/>
        </p:nvSpPr>
        <p:spPr>
          <a:xfrm>
            <a:off x="640080" y="4187952"/>
            <a:ext cx="2834640" cy="411480"/>
          </a:xfrm>
          <a:prstGeom prst="rect">
            <a:avLst/>
          </a:prstGeom>
          <a:noFill/>
          <a:ln/>
        </p:spPr>
        <p:txBody>
          <a:bodyPr wrap="square" rtlCol="0" anchor="t"/>
          <a:lstStyle/>
          <a:p>
            <a:pPr indent="0" marL="0">
              <a:buNone/>
            </a:pPr>
            <a:r>
              <a:rPr lang="en-US" sz="1200" dirty="0">
                <a:solidFill>
                  <a:srgbClr val="EFF7F3"/>
                </a:solidFill>
                <a:latin typeface="Calibri" pitchFamily="34" charset="0"/>
                <a:ea typeface="Calibri" pitchFamily="34" charset="-122"/>
                <a:cs typeface="Calibri" pitchFamily="34" charset="-120"/>
              </a:rPr>
              <a:t>Likith T M, Mokshith H C</a:t>
            </a:r>
            <a:endParaRPr lang="en-US" sz="1200" dirty="0"/>
          </a:p>
        </p:txBody>
      </p:sp>
      <p:sp>
        <p:nvSpPr>
          <p:cNvPr id="9" name="Text 6"/>
          <p:cNvSpPr/>
          <p:nvPr/>
        </p:nvSpPr>
        <p:spPr>
          <a:xfrm>
            <a:off x="3566160" y="393192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DEPARTMENT</a:t>
            </a:r>
            <a:endParaRPr lang="en-US" sz="1000" dirty="0"/>
          </a:p>
        </p:txBody>
      </p:sp>
      <p:sp>
        <p:nvSpPr>
          <p:cNvPr id="10" name="Text 7"/>
          <p:cNvSpPr/>
          <p:nvPr/>
        </p:nvSpPr>
        <p:spPr>
          <a:xfrm>
            <a:off x="3566160" y="4187952"/>
            <a:ext cx="2834640" cy="411480"/>
          </a:xfrm>
          <a:prstGeom prst="rect">
            <a:avLst/>
          </a:prstGeom>
          <a:noFill/>
          <a:ln/>
        </p:spPr>
        <p:txBody>
          <a:bodyPr wrap="square" rtlCol="0" anchor="t"/>
          <a:lstStyle/>
          <a:p>
            <a:pPr indent="0" marL="0">
              <a:buNone/>
            </a:pPr>
            <a:r>
              <a:rPr lang="en-US" sz="1200" dirty="0">
                <a:solidFill>
                  <a:srgbClr val="EFF7F3"/>
                </a:solidFill>
                <a:latin typeface="Calibri" pitchFamily="34" charset="0"/>
                <a:ea typeface="Calibri" pitchFamily="34" charset="-122"/>
                <a:cs typeface="Calibri" pitchFamily="34" charset="-120"/>
              </a:rPr>
              <a:t>Artificial Intelligence and Machine Learning</a:t>
            </a:r>
            <a:endParaRPr lang="en-US" sz="1200" dirty="0"/>
          </a:p>
        </p:txBody>
      </p:sp>
      <p:sp>
        <p:nvSpPr>
          <p:cNvPr id="11" name="Text 8"/>
          <p:cNvSpPr/>
          <p:nvPr/>
        </p:nvSpPr>
        <p:spPr>
          <a:xfrm>
            <a:off x="640080" y="470916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INSTITUTION</a:t>
            </a:r>
            <a:endParaRPr lang="en-US" sz="1000" dirty="0"/>
          </a:p>
        </p:txBody>
      </p:sp>
      <p:sp>
        <p:nvSpPr>
          <p:cNvPr id="12" name="Text 9"/>
          <p:cNvSpPr/>
          <p:nvPr/>
        </p:nvSpPr>
        <p:spPr>
          <a:xfrm>
            <a:off x="640080" y="4965192"/>
            <a:ext cx="2834640" cy="411480"/>
          </a:xfrm>
          <a:prstGeom prst="rect">
            <a:avLst/>
          </a:prstGeom>
          <a:noFill/>
          <a:ln/>
        </p:spPr>
        <p:txBody>
          <a:bodyPr wrap="square" rtlCol="0" anchor="t"/>
          <a:lstStyle/>
          <a:p>
            <a:pPr indent="0" marL="0">
              <a:buNone/>
            </a:pPr>
            <a:r>
              <a:rPr lang="en-US" sz="1200" dirty="0">
                <a:solidFill>
                  <a:srgbClr val="EFF7F3"/>
                </a:solidFill>
                <a:latin typeface="Calibri" pitchFamily="34" charset="0"/>
                <a:ea typeface="Calibri" pitchFamily="34" charset="-122"/>
                <a:cs typeface="Calibri" pitchFamily="34" charset="-120"/>
              </a:rPr>
              <a:t>Alva's Institute of Engineering and Technology</a:t>
            </a:r>
            <a:endParaRPr lang="en-US" sz="1200" dirty="0"/>
          </a:p>
        </p:txBody>
      </p:sp>
      <p:sp>
        <p:nvSpPr>
          <p:cNvPr id="13" name="Text 10"/>
          <p:cNvSpPr/>
          <p:nvPr/>
        </p:nvSpPr>
        <p:spPr>
          <a:xfrm>
            <a:off x="3566160" y="470916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DATE</a:t>
            </a:r>
            <a:endParaRPr lang="en-US" sz="1000" dirty="0"/>
          </a:p>
        </p:txBody>
      </p:sp>
      <p:sp>
        <p:nvSpPr>
          <p:cNvPr id="14" name="Text 11"/>
          <p:cNvSpPr/>
          <p:nvPr/>
        </p:nvSpPr>
        <p:spPr>
          <a:xfrm>
            <a:off x="3566160" y="4965192"/>
            <a:ext cx="2834640" cy="411480"/>
          </a:xfrm>
          <a:prstGeom prst="rect">
            <a:avLst/>
          </a:prstGeom>
          <a:noFill/>
          <a:ln/>
        </p:spPr>
        <p:txBody>
          <a:bodyPr wrap="square" rtlCol="0" anchor="t"/>
          <a:lstStyle/>
          <a:p>
            <a:pPr indent="0" marL="0">
              <a:buNone/>
            </a:pPr>
            <a:r>
              <a:rPr lang="en-US" sz="1200" dirty="0">
                <a:solidFill>
                  <a:srgbClr val="EFF7F3"/>
                </a:solidFill>
                <a:latin typeface="Calibri" pitchFamily="34" charset="0"/>
                <a:ea typeface="Calibri" pitchFamily="34" charset="-122"/>
                <a:cs typeface="Calibri" pitchFamily="34" charset="-120"/>
              </a:rPr>
              <a:t>[Presentation Date]</a:t>
            </a:r>
            <a:endParaRPr lang="en-US" sz="1200" dirty="0"/>
          </a:p>
        </p:txBody>
      </p:sp>
      <p:sp>
        <p:nvSpPr>
          <p:cNvPr id="15" name="Shape 12"/>
          <p:cNvSpPr/>
          <p:nvPr/>
        </p:nvSpPr>
        <p:spPr>
          <a:xfrm>
            <a:off x="640080" y="5760720"/>
            <a:ext cx="1280160" cy="365760"/>
          </a:xfrm>
          <a:prstGeom prst="roundRect">
            <a:avLst>
              <a:gd name="adj" fmla="val 20000"/>
            </a:avLst>
          </a:prstGeom>
          <a:solidFill>
            <a:srgbClr val="152827"/>
          </a:solidFill>
          <a:ln w="12700">
            <a:solidFill>
              <a:srgbClr val="3FCB9A"/>
            </a:solidFill>
            <a:prstDash val="solid"/>
          </a:ln>
        </p:spPr>
      </p:sp>
      <p:sp>
        <p:nvSpPr>
          <p:cNvPr id="16" name="Text 13"/>
          <p:cNvSpPr/>
          <p:nvPr/>
        </p:nvSpPr>
        <p:spPr>
          <a:xfrm>
            <a:off x="640080" y="5760720"/>
            <a:ext cx="1280160" cy="365760"/>
          </a:xfrm>
          <a:prstGeom prst="rect">
            <a:avLst/>
          </a:prstGeom>
          <a:noFill/>
          <a:ln/>
        </p:spPr>
        <p:txBody>
          <a:bodyPr wrap="square" lIns="50800" tIns="50800" rIns="50800" bIns="50800" rtlCol="0" anchor="ctr"/>
          <a:lstStyle/>
          <a:p>
            <a:pPr algn="ctr" indent="0" marL="0">
              <a:buNone/>
            </a:pPr>
            <a:r>
              <a:rPr lang="en-US" sz="1100" dirty="0">
                <a:solidFill>
                  <a:srgbClr val="3FCB9A"/>
                </a:solidFill>
                <a:latin typeface="Calibri" pitchFamily="34" charset="0"/>
                <a:ea typeface="Calibri" pitchFamily="34" charset="-122"/>
                <a:cs typeface="Calibri" pitchFamily="34" charset="-120"/>
              </a:rPr>
              <a:t>AI/ML</a:t>
            </a:r>
            <a:endParaRPr lang="en-US" sz="1100" dirty="0"/>
          </a:p>
        </p:txBody>
      </p:sp>
      <p:sp>
        <p:nvSpPr>
          <p:cNvPr id="17" name="Shape 14"/>
          <p:cNvSpPr/>
          <p:nvPr/>
        </p:nvSpPr>
        <p:spPr>
          <a:xfrm>
            <a:off x="2057400" y="5760720"/>
            <a:ext cx="1280160" cy="365760"/>
          </a:xfrm>
          <a:prstGeom prst="roundRect">
            <a:avLst>
              <a:gd name="adj" fmla="val 20000"/>
            </a:avLst>
          </a:prstGeom>
          <a:solidFill>
            <a:srgbClr val="152827"/>
          </a:solidFill>
          <a:ln w="12700">
            <a:solidFill>
              <a:srgbClr val="3FCB9A"/>
            </a:solidFill>
            <a:prstDash val="solid"/>
          </a:ln>
        </p:spPr>
      </p:sp>
      <p:sp>
        <p:nvSpPr>
          <p:cNvPr id="18" name="Text 15"/>
          <p:cNvSpPr/>
          <p:nvPr/>
        </p:nvSpPr>
        <p:spPr>
          <a:xfrm>
            <a:off x="2057400" y="5760720"/>
            <a:ext cx="1280160" cy="365760"/>
          </a:xfrm>
          <a:prstGeom prst="rect">
            <a:avLst/>
          </a:prstGeom>
          <a:noFill/>
          <a:ln/>
        </p:spPr>
        <p:txBody>
          <a:bodyPr wrap="square" lIns="50800" tIns="50800" rIns="50800" bIns="50800" rtlCol="0" anchor="ctr"/>
          <a:lstStyle/>
          <a:p>
            <a:pPr algn="ctr" indent="0" marL="0">
              <a:buNone/>
            </a:pPr>
            <a:r>
              <a:rPr lang="en-US" sz="1100" dirty="0">
                <a:solidFill>
                  <a:srgbClr val="3FCB9A"/>
                </a:solidFill>
                <a:latin typeface="Calibri" pitchFamily="34" charset="0"/>
                <a:ea typeface="Calibri" pitchFamily="34" charset="-122"/>
                <a:cs typeface="Calibri" pitchFamily="34" charset="-120"/>
              </a:rPr>
              <a:t>RAG</a:t>
            </a:r>
            <a:endParaRPr lang="en-US" sz="1100" dirty="0"/>
          </a:p>
        </p:txBody>
      </p:sp>
      <p:sp>
        <p:nvSpPr>
          <p:cNvPr id="19" name="Shape 16"/>
          <p:cNvSpPr/>
          <p:nvPr/>
        </p:nvSpPr>
        <p:spPr>
          <a:xfrm>
            <a:off x="3474720" y="5760720"/>
            <a:ext cx="1280160" cy="365760"/>
          </a:xfrm>
          <a:prstGeom prst="roundRect">
            <a:avLst>
              <a:gd name="adj" fmla="val 20000"/>
            </a:avLst>
          </a:prstGeom>
          <a:solidFill>
            <a:srgbClr val="152827"/>
          </a:solidFill>
          <a:ln w="12700">
            <a:solidFill>
              <a:srgbClr val="3FCB9A"/>
            </a:solidFill>
            <a:prstDash val="solid"/>
          </a:ln>
        </p:spPr>
      </p:sp>
      <p:sp>
        <p:nvSpPr>
          <p:cNvPr id="20" name="Text 17"/>
          <p:cNvSpPr/>
          <p:nvPr/>
        </p:nvSpPr>
        <p:spPr>
          <a:xfrm>
            <a:off x="3474720" y="5760720"/>
            <a:ext cx="1280160" cy="365760"/>
          </a:xfrm>
          <a:prstGeom prst="rect">
            <a:avLst/>
          </a:prstGeom>
          <a:noFill/>
          <a:ln/>
        </p:spPr>
        <p:txBody>
          <a:bodyPr wrap="square" lIns="50800" tIns="50800" rIns="50800" bIns="50800" rtlCol="0" anchor="ctr"/>
          <a:lstStyle/>
          <a:p>
            <a:pPr algn="ctr" indent="0" marL="0">
              <a:buNone/>
            </a:pPr>
            <a:r>
              <a:rPr lang="en-US" sz="1100" dirty="0">
                <a:solidFill>
                  <a:srgbClr val="3FCB9A"/>
                </a:solidFill>
                <a:latin typeface="Calibri" pitchFamily="34" charset="0"/>
                <a:ea typeface="Calibri" pitchFamily="34" charset="-122"/>
                <a:cs typeface="Calibri" pitchFamily="34" charset="-120"/>
              </a:rPr>
              <a:t>FoodTech</a:t>
            </a:r>
            <a:endParaRPr lang="en-US" sz="1100" dirty="0"/>
          </a:p>
        </p:txBody>
      </p:sp>
      <p:sp>
        <p:nvSpPr>
          <p:cNvPr id="21" name="Shape 18"/>
          <p:cNvSpPr/>
          <p:nvPr/>
        </p:nvSpPr>
        <p:spPr>
          <a:xfrm>
            <a:off x="4892040" y="5760720"/>
            <a:ext cx="1280160" cy="365760"/>
          </a:xfrm>
          <a:prstGeom prst="roundRect">
            <a:avLst>
              <a:gd name="adj" fmla="val 20000"/>
            </a:avLst>
          </a:prstGeom>
          <a:solidFill>
            <a:srgbClr val="152827"/>
          </a:solidFill>
          <a:ln w="12700">
            <a:solidFill>
              <a:srgbClr val="3FCB9A"/>
            </a:solidFill>
            <a:prstDash val="solid"/>
          </a:ln>
        </p:spPr>
      </p:sp>
      <p:sp>
        <p:nvSpPr>
          <p:cNvPr id="22" name="Text 19"/>
          <p:cNvSpPr/>
          <p:nvPr/>
        </p:nvSpPr>
        <p:spPr>
          <a:xfrm>
            <a:off x="4892040" y="5760720"/>
            <a:ext cx="1280160" cy="365760"/>
          </a:xfrm>
          <a:prstGeom prst="rect">
            <a:avLst/>
          </a:prstGeom>
          <a:noFill/>
          <a:ln/>
        </p:spPr>
        <p:txBody>
          <a:bodyPr wrap="square" lIns="50800" tIns="50800" rIns="50800" bIns="50800" rtlCol="0" anchor="ctr"/>
          <a:lstStyle/>
          <a:p>
            <a:pPr algn="ctr" indent="0" marL="0">
              <a:buNone/>
            </a:pPr>
            <a:r>
              <a:rPr lang="en-US" sz="1100" dirty="0">
                <a:solidFill>
                  <a:srgbClr val="3FCB9A"/>
                </a:solidFill>
                <a:latin typeface="Calibri" pitchFamily="34" charset="0"/>
                <a:ea typeface="Calibri" pitchFamily="34" charset="-122"/>
                <a:cs typeface="Calibri" pitchFamily="34" charset="-120"/>
              </a:rPr>
              <a:t>Packaging Science</a:t>
            </a:r>
            <a:endParaRPr lang="en-US" sz="1100" dirty="0"/>
          </a:p>
        </p:txBody>
      </p:sp>
      <p:sp>
        <p:nvSpPr>
          <p:cNvPr id="23" name="Shape 20"/>
          <p:cNvSpPr/>
          <p:nvPr/>
        </p:nvSpPr>
        <p:spPr>
          <a:xfrm>
            <a:off x="6949440" y="5669280"/>
            <a:ext cx="4937760" cy="731520"/>
          </a:xfrm>
          <a:prstGeom prst="roundRect">
            <a:avLst>
              <a:gd name="adj" fmla="val 10000"/>
            </a:avLst>
          </a:prstGeom>
          <a:solidFill>
            <a:srgbClr val="0C1D1D"/>
          </a:solidFill>
          <a:ln w="12700">
            <a:solidFill>
              <a:srgbClr val="2A3D3B"/>
            </a:solidFill>
            <a:prstDash val="solid"/>
          </a:ln>
        </p:spPr>
      </p:sp>
      <p:sp>
        <p:nvSpPr>
          <p:cNvPr id="24" name="Text 21"/>
          <p:cNvSpPr/>
          <p:nvPr/>
        </p:nvSpPr>
        <p:spPr>
          <a:xfrm>
            <a:off x="6995160" y="5715000"/>
            <a:ext cx="1005840" cy="640080"/>
          </a:xfrm>
          <a:prstGeom prst="rect">
            <a:avLst/>
          </a:prstGeom>
          <a:noFill/>
          <a:ln/>
        </p:spPr>
        <p:txBody>
          <a:bodyPr wrap="square" rtlCol="0" anchor="ctr"/>
          <a:lstStyle/>
          <a:p>
            <a:pPr algn="ctr" indent="0" marL="0">
              <a:buNone/>
            </a:pPr>
            <a:r>
              <a:rPr lang="en-US" sz="1000" dirty="0">
                <a:solidFill>
                  <a:srgbClr val="EFF7F3"/>
                </a:solidFill>
                <a:latin typeface="Calibri" pitchFamily="34" charset="0"/>
                <a:ea typeface="Calibri" pitchFamily="34" charset="-122"/>
                <a:cs typeface="Calibri" pitchFamily="34" charset="-120"/>
              </a:rPr>
              <a:t>Food Commodity</a:t>
            </a:r>
            <a:endParaRPr lang="en-US" sz="1000" dirty="0"/>
          </a:p>
        </p:txBody>
      </p:sp>
      <p:sp>
        <p:nvSpPr>
          <p:cNvPr id="25" name="Shape 22"/>
          <p:cNvSpPr/>
          <p:nvPr/>
        </p:nvSpPr>
        <p:spPr>
          <a:xfrm>
            <a:off x="7973568" y="5943600"/>
            <a:ext cx="201168" cy="182880"/>
          </a:xfrm>
          <a:prstGeom prst="rightArrow">
            <a:avLst/>
          </a:prstGeom>
          <a:solidFill>
            <a:srgbClr val="3FCB9A"/>
          </a:solidFill>
          <a:ln w="12700">
            <a:solidFill>
              <a:srgbClr val="3FCB9A"/>
            </a:solidFill>
            <a:prstDash val="solid"/>
          </a:ln>
        </p:spPr>
      </p:sp>
      <p:sp>
        <p:nvSpPr>
          <p:cNvPr id="26" name="Text 23"/>
          <p:cNvSpPr/>
          <p:nvPr/>
        </p:nvSpPr>
        <p:spPr>
          <a:xfrm>
            <a:off x="8229600" y="5715000"/>
            <a:ext cx="1005840" cy="640080"/>
          </a:xfrm>
          <a:prstGeom prst="rect">
            <a:avLst/>
          </a:prstGeom>
          <a:noFill/>
          <a:ln/>
        </p:spPr>
        <p:txBody>
          <a:bodyPr wrap="square" rtlCol="0" anchor="ctr"/>
          <a:lstStyle/>
          <a:p>
            <a:pPr algn="ctr" indent="0" marL="0">
              <a:buNone/>
            </a:pPr>
            <a:r>
              <a:rPr lang="en-US" sz="1000" dirty="0">
                <a:solidFill>
                  <a:srgbClr val="EFF7F3"/>
                </a:solidFill>
                <a:latin typeface="Calibri" pitchFamily="34" charset="0"/>
                <a:ea typeface="Calibri" pitchFamily="34" charset="-122"/>
                <a:cs typeface="Calibri" pitchFamily="34" charset="-120"/>
              </a:rPr>
              <a:t>AI Engine</a:t>
            </a:r>
            <a:endParaRPr lang="en-US" sz="1000" dirty="0"/>
          </a:p>
        </p:txBody>
      </p:sp>
      <p:sp>
        <p:nvSpPr>
          <p:cNvPr id="27" name="Shape 24"/>
          <p:cNvSpPr/>
          <p:nvPr/>
        </p:nvSpPr>
        <p:spPr>
          <a:xfrm>
            <a:off x="9208008" y="5943600"/>
            <a:ext cx="201168" cy="182880"/>
          </a:xfrm>
          <a:prstGeom prst="rightArrow">
            <a:avLst/>
          </a:prstGeom>
          <a:solidFill>
            <a:srgbClr val="3FCB9A"/>
          </a:solidFill>
          <a:ln w="12700">
            <a:solidFill>
              <a:srgbClr val="3FCB9A"/>
            </a:solidFill>
            <a:prstDash val="solid"/>
          </a:ln>
        </p:spPr>
      </p:sp>
      <p:sp>
        <p:nvSpPr>
          <p:cNvPr id="28" name="Text 25"/>
          <p:cNvSpPr/>
          <p:nvPr/>
        </p:nvSpPr>
        <p:spPr>
          <a:xfrm>
            <a:off x="9464040" y="5715000"/>
            <a:ext cx="1005840" cy="640080"/>
          </a:xfrm>
          <a:prstGeom prst="rect">
            <a:avLst/>
          </a:prstGeom>
          <a:noFill/>
          <a:ln/>
        </p:spPr>
        <p:txBody>
          <a:bodyPr wrap="square" rtlCol="0" anchor="ctr"/>
          <a:lstStyle/>
          <a:p>
            <a:pPr algn="ctr" indent="0" marL="0">
              <a:buNone/>
            </a:pPr>
            <a:r>
              <a:rPr lang="en-US" sz="1000" dirty="0">
                <a:solidFill>
                  <a:srgbClr val="EFF7F3"/>
                </a:solidFill>
                <a:latin typeface="Calibri" pitchFamily="34" charset="0"/>
                <a:ea typeface="Calibri" pitchFamily="34" charset="-122"/>
                <a:cs typeface="Calibri" pitchFamily="34" charset="-120"/>
              </a:rPr>
              <a:t>Packaging Film</a:t>
            </a:r>
            <a:endParaRPr lang="en-US" sz="1000" dirty="0"/>
          </a:p>
        </p:txBody>
      </p:sp>
      <p:sp>
        <p:nvSpPr>
          <p:cNvPr id="29" name="Shape 26"/>
          <p:cNvSpPr/>
          <p:nvPr/>
        </p:nvSpPr>
        <p:spPr>
          <a:xfrm>
            <a:off x="10442448" y="5943600"/>
            <a:ext cx="201168" cy="182880"/>
          </a:xfrm>
          <a:prstGeom prst="rightArrow">
            <a:avLst/>
          </a:prstGeom>
          <a:solidFill>
            <a:srgbClr val="3FCB9A"/>
          </a:solidFill>
          <a:ln w="12700">
            <a:solidFill>
              <a:srgbClr val="3FCB9A"/>
            </a:solidFill>
            <a:prstDash val="solid"/>
          </a:ln>
        </p:spPr>
      </p:sp>
      <p:sp>
        <p:nvSpPr>
          <p:cNvPr id="30" name="Text 27"/>
          <p:cNvSpPr/>
          <p:nvPr/>
        </p:nvSpPr>
        <p:spPr>
          <a:xfrm>
            <a:off x="10698480" y="5715000"/>
            <a:ext cx="1005840" cy="640080"/>
          </a:xfrm>
          <a:prstGeom prst="rect">
            <a:avLst/>
          </a:prstGeom>
          <a:noFill/>
          <a:ln/>
        </p:spPr>
        <p:txBody>
          <a:bodyPr wrap="square" rtlCol="0" anchor="ctr"/>
          <a:lstStyle/>
          <a:p>
            <a:pPr algn="ctr" indent="0" marL="0">
              <a:buNone/>
            </a:pPr>
            <a:r>
              <a:rPr lang="en-US" sz="1000" dirty="0">
                <a:solidFill>
                  <a:srgbClr val="EFF7F3"/>
                </a:solidFill>
                <a:latin typeface="Calibri" pitchFamily="34" charset="0"/>
                <a:ea typeface="Calibri" pitchFamily="34" charset="-122"/>
                <a:cs typeface="Calibri" pitchFamily="34" charset="-120"/>
              </a:rPr>
              <a:t>Longer Shelf Life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02 · PROBLEM &amp; INDUSTRIAL NEED</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Why Intelligent Packaging Selection?</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The packaging decision is a multi-parameter engineering problem.</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Shape 4"/>
          <p:cNvSpPr/>
          <p:nvPr/>
        </p:nvSpPr>
        <p:spPr>
          <a:xfrm>
            <a:off x="1737360" y="3017520"/>
            <a:ext cx="1828800" cy="1828800"/>
          </a:xfrm>
          <a:prstGeom prst="ellipse">
            <a:avLst/>
          </a:prstGeom>
          <a:solidFill>
            <a:srgbClr val="1F4A36"/>
          </a:solidFill>
          <a:ln w="12700">
            <a:solidFill>
              <a:srgbClr val="3FCB9A"/>
            </a:solidFill>
            <a:prstDash val="solid"/>
          </a:ln>
        </p:spPr>
      </p:sp>
      <p:sp>
        <p:nvSpPr>
          <p:cNvPr id="8" name="Text 5"/>
          <p:cNvSpPr/>
          <p:nvPr/>
        </p:nvSpPr>
        <p:spPr>
          <a:xfrm>
            <a:off x="1737360" y="3017520"/>
            <a:ext cx="1828800" cy="1828800"/>
          </a:xfrm>
          <a:prstGeom prst="rect">
            <a:avLst/>
          </a:prstGeom>
          <a:noFill/>
          <a:ln/>
        </p:spPr>
        <p:txBody>
          <a:bodyPr wrap="square" rtlCol="0" anchor="ctr"/>
          <a:lstStyle/>
          <a:p>
            <a:pPr algn="ctr" indent="0" marL="0">
              <a:buNone/>
            </a:pPr>
            <a:r>
              <a:rPr lang="en-US" sz="1400" b="1" dirty="0">
                <a:solidFill>
                  <a:srgbClr val="EFF7F3"/>
                </a:solidFill>
                <a:latin typeface="Calibri" pitchFamily="34" charset="0"/>
                <a:ea typeface="Calibri" pitchFamily="34" charset="-122"/>
                <a:cs typeface="Calibri" pitchFamily="34" charset="-120"/>
              </a:rPr>
              <a:t>Food Product</a:t>
            </a:r>
            <a:endParaRPr lang="en-US" sz="1400" dirty="0"/>
          </a:p>
        </p:txBody>
      </p:sp>
      <p:sp>
        <p:nvSpPr>
          <p:cNvPr id="9" name="Shape 6"/>
          <p:cNvSpPr/>
          <p:nvPr/>
        </p:nvSpPr>
        <p:spPr>
          <a:xfrm>
            <a:off x="1874520" y="1828800"/>
            <a:ext cx="1554480" cy="411480"/>
          </a:xfrm>
          <a:prstGeom prst="roundRect">
            <a:avLst>
              <a:gd name="adj" fmla="val 17778"/>
            </a:avLst>
          </a:prstGeom>
          <a:solidFill>
            <a:srgbClr val="152827"/>
          </a:solidFill>
          <a:ln w="12700">
            <a:solidFill>
              <a:srgbClr val="2A3D3B"/>
            </a:solidFill>
            <a:prstDash val="solid"/>
          </a:ln>
        </p:spPr>
      </p:sp>
      <p:sp>
        <p:nvSpPr>
          <p:cNvPr id="10" name="Text 7"/>
          <p:cNvSpPr/>
          <p:nvPr/>
        </p:nvSpPr>
        <p:spPr>
          <a:xfrm>
            <a:off x="1874520" y="182880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Moisture</a:t>
            </a:r>
            <a:endParaRPr lang="en-US" sz="1100" dirty="0"/>
          </a:p>
        </p:txBody>
      </p:sp>
      <p:sp>
        <p:nvSpPr>
          <p:cNvPr id="11" name="Shape 8"/>
          <p:cNvSpPr/>
          <p:nvPr/>
        </p:nvSpPr>
        <p:spPr>
          <a:xfrm>
            <a:off x="3566160" y="2560320"/>
            <a:ext cx="1554480" cy="411480"/>
          </a:xfrm>
          <a:prstGeom prst="roundRect">
            <a:avLst>
              <a:gd name="adj" fmla="val 17778"/>
            </a:avLst>
          </a:prstGeom>
          <a:solidFill>
            <a:srgbClr val="152827"/>
          </a:solidFill>
          <a:ln w="12700">
            <a:solidFill>
              <a:srgbClr val="2A3D3B"/>
            </a:solidFill>
            <a:prstDash val="solid"/>
          </a:ln>
        </p:spPr>
      </p:sp>
      <p:sp>
        <p:nvSpPr>
          <p:cNvPr id="12" name="Text 9"/>
          <p:cNvSpPr/>
          <p:nvPr/>
        </p:nvSpPr>
        <p:spPr>
          <a:xfrm>
            <a:off x="3566160" y="256032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Oxidation (O₂)</a:t>
            </a:r>
            <a:endParaRPr lang="en-US" sz="1100" dirty="0"/>
          </a:p>
        </p:txBody>
      </p:sp>
      <p:sp>
        <p:nvSpPr>
          <p:cNvPr id="13" name="Shape 10"/>
          <p:cNvSpPr/>
          <p:nvPr/>
        </p:nvSpPr>
        <p:spPr>
          <a:xfrm>
            <a:off x="3566160" y="4754880"/>
            <a:ext cx="1554480" cy="411480"/>
          </a:xfrm>
          <a:prstGeom prst="roundRect">
            <a:avLst>
              <a:gd name="adj" fmla="val 17778"/>
            </a:avLst>
          </a:prstGeom>
          <a:solidFill>
            <a:srgbClr val="152827"/>
          </a:solidFill>
          <a:ln w="12700">
            <a:solidFill>
              <a:srgbClr val="2A3D3B"/>
            </a:solidFill>
            <a:prstDash val="solid"/>
          </a:ln>
        </p:spPr>
      </p:sp>
      <p:sp>
        <p:nvSpPr>
          <p:cNvPr id="14" name="Text 11"/>
          <p:cNvSpPr/>
          <p:nvPr/>
        </p:nvSpPr>
        <p:spPr>
          <a:xfrm>
            <a:off x="3566160" y="475488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Microbial Spoilage</a:t>
            </a:r>
            <a:endParaRPr lang="en-US" sz="1100" dirty="0"/>
          </a:p>
        </p:txBody>
      </p:sp>
      <p:sp>
        <p:nvSpPr>
          <p:cNvPr id="15" name="Shape 12"/>
          <p:cNvSpPr/>
          <p:nvPr/>
        </p:nvSpPr>
        <p:spPr>
          <a:xfrm>
            <a:off x="1874520" y="5486400"/>
            <a:ext cx="1554480" cy="411480"/>
          </a:xfrm>
          <a:prstGeom prst="roundRect">
            <a:avLst>
              <a:gd name="adj" fmla="val 17778"/>
            </a:avLst>
          </a:prstGeom>
          <a:solidFill>
            <a:srgbClr val="152827"/>
          </a:solidFill>
          <a:ln w="12700">
            <a:solidFill>
              <a:srgbClr val="2A3D3B"/>
            </a:solidFill>
            <a:prstDash val="solid"/>
          </a:ln>
        </p:spPr>
      </p:sp>
      <p:sp>
        <p:nvSpPr>
          <p:cNvPr id="16" name="Text 13"/>
          <p:cNvSpPr/>
          <p:nvPr/>
        </p:nvSpPr>
        <p:spPr>
          <a:xfrm>
            <a:off x="1874520" y="548640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Temperature</a:t>
            </a:r>
            <a:endParaRPr lang="en-US" sz="1100" dirty="0"/>
          </a:p>
        </p:txBody>
      </p:sp>
      <p:sp>
        <p:nvSpPr>
          <p:cNvPr id="17" name="Shape 14"/>
          <p:cNvSpPr/>
          <p:nvPr/>
        </p:nvSpPr>
        <p:spPr>
          <a:xfrm>
            <a:off x="274320" y="4754880"/>
            <a:ext cx="1554480" cy="411480"/>
          </a:xfrm>
          <a:prstGeom prst="roundRect">
            <a:avLst>
              <a:gd name="adj" fmla="val 17778"/>
            </a:avLst>
          </a:prstGeom>
          <a:solidFill>
            <a:srgbClr val="152827"/>
          </a:solidFill>
          <a:ln w="12700">
            <a:solidFill>
              <a:srgbClr val="2A3D3B"/>
            </a:solidFill>
            <a:prstDash val="solid"/>
          </a:ln>
        </p:spPr>
      </p:sp>
      <p:sp>
        <p:nvSpPr>
          <p:cNvPr id="18" name="Text 15"/>
          <p:cNvSpPr/>
          <p:nvPr/>
        </p:nvSpPr>
        <p:spPr>
          <a:xfrm>
            <a:off x="274320" y="475488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Respiration</a:t>
            </a:r>
            <a:endParaRPr lang="en-US" sz="1100" dirty="0"/>
          </a:p>
        </p:txBody>
      </p:sp>
      <p:sp>
        <p:nvSpPr>
          <p:cNvPr id="19" name="Shape 16"/>
          <p:cNvSpPr/>
          <p:nvPr/>
        </p:nvSpPr>
        <p:spPr>
          <a:xfrm>
            <a:off x="274320" y="2560320"/>
            <a:ext cx="1554480" cy="411480"/>
          </a:xfrm>
          <a:prstGeom prst="roundRect">
            <a:avLst>
              <a:gd name="adj" fmla="val 17778"/>
            </a:avLst>
          </a:prstGeom>
          <a:solidFill>
            <a:srgbClr val="152827"/>
          </a:solidFill>
          <a:ln w="12700">
            <a:solidFill>
              <a:srgbClr val="2A3D3B"/>
            </a:solidFill>
            <a:prstDash val="solid"/>
          </a:ln>
        </p:spPr>
      </p:sp>
      <p:sp>
        <p:nvSpPr>
          <p:cNvPr id="20" name="Text 17"/>
          <p:cNvSpPr/>
          <p:nvPr/>
        </p:nvSpPr>
        <p:spPr>
          <a:xfrm>
            <a:off x="274320" y="2560320"/>
            <a:ext cx="1554480" cy="41148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Mechanical Damage</a:t>
            </a:r>
            <a:endParaRPr lang="en-US" sz="1100" dirty="0"/>
          </a:p>
        </p:txBody>
      </p:sp>
      <p:sp>
        <p:nvSpPr>
          <p:cNvPr id="21" name="Text 18"/>
          <p:cNvSpPr/>
          <p:nvPr/>
        </p:nvSpPr>
        <p:spPr>
          <a:xfrm>
            <a:off x="5669280" y="1828800"/>
            <a:ext cx="45720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ENGINEERING CHALLENGE</a:t>
            </a:r>
            <a:endParaRPr lang="en-US" sz="1000" dirty="0"/>
          </a:p>
        </p:txBody>
      </p:sp>
      <p:sp>
        <p:nvSpPr>
          <p:cNvPr id="22" name="Shape 19"/>
          <p:cNvSpPr/>
          <p:nvPr/>
        </p:nvSpPr>
        <p:spPr>
          <a:xfrm>
            <a:off x="5669280" y="2194560"/>
            <a:ext cx="1325880" cy="594360"/>
          </a:xfrm>
          <a:prstGeom prst="roundRect">
            <a:avLst>
              <a:gd name="adj" fmla="val 12308"/>
            </a:avLst>
          </a:prstGeom>
          <a:solidFill>
            <a:srgbClr val="17392F"/>
          </a:solidFill>
          <a:ln w="12700">
            <a:solidFill>
              <a:srgbClr val="3FCB9A"/>
            </a:solidFill>
            <a:prstDash val="solid"/>
          </a:ln>
        </p:spPr>
      </p:sp>
      <p:sp>
        <p:nvSpPr>
          <p:cNvPr id="23" name="Text 20"/>
          <p:cNvSpPr/>
          <p:nvPr/>
        </p:nvSpPr>
        <p:spPr>
          <a:xfrm>
            <a:off x="5669280" y="2194560"/>
            <a:ext cx="1325880" cy="59436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Food Properties</a:t>
            </a:r>
            <a:endParaRPr lang="en-US" sz="1100" dirty="0"/>
          </a:p>
        </p:txBody>
      </p:sp>
      <p:sp>
        <p:nvSpPr>
          <p:cNvPr id="24" name="Shape 21"/>
          <p:cNvSpPr/>
          <p:nvPr/>
        </p:nvSpPr>
        <p:spPr>
          <a:xfrm>
            <a:off x="7013448" y="2395728"/>
            <a:ext cx="201168" cy="182880"/>
          </a:xfrm>
          <a:prstGeom prst="rightArrow">
            <a:avLst/>
          </a:prstGeom>
          <a:solidFill>
            <a:srgbClr val="3FCB9A"/>
          </a:solidFill>
          <a:ln w="12700">
            <a:solidFill>
              <a:srgbClr val="3FCB9A"/>
            </a:solidFill>
            <a:prstDash val="solid"/>
          </a:ln>
        </p:spPr>
      </p:sp>
      <p:sp>
        <p:nvSpPr>
          <p:cNvPr id="25" name="Shape 22"/>
          <p:cNvSpPr/>
          <p:nvPr/>
        </p:nvSpPr>
        <p:spPr>
          <a:xfrm>
            <a:off x="7242048" y="2194560"/>
            <a:ext cx="1325880" cy="594360"/>
          </a:xfrm>
          <a:prstGeom prst="roundRect">
            <a:avLst>
              <a:gd name="adj" fmla="val 12308"/>
            </a:avLst>
          </a:prstGeom>
          <a:solidFill>
            <a:srgbClr val="17392F"/>
          </a:solidFill>
          <a:ln w="12700">
            <a:solidFill>
              <a:srgbClr val="3FCB9A"/>
            </a:solidFill>
            <a:prstDash val="solid"/>
          </a:ln>
        </p:spPr>
      </p:sp>
      <p:sp>
        <p:nvSpPr>
          <p:cNvPr id="26" name="Text 23"/>
          <p:cNvSpPr/>
          <p:nvPr/>
        </p:nvSpPr>
        <p:spPr>
          <a:xfrm>
            <a:off x="7242048" y="2194560"/>
            <a:ext cx="1325880" cy="59436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Storage Environment</a:t>
            </a:r>
            <a:endParaRPr lang="en-US" sz="1100" dirty="0"/>
          </a:p>
        </p:txBody>
      </p:sp>
      <p:sp>
        <p:nvSpPr>
          <p:cNvPr id="27" name="Shape 24"/>
          <p:cNvSpPr/>
          <p:nvPr/>
        </p:nvSpPr>
        <p:spPr>
          <a:xfrm>
            <a:off x="8586216" y="2395728"/>
            <a:ext cx="201168" cy="182880"/>
          </a:xfrm>
          <a:prstGeom prst="rightArrow">
            <a:avLst/>
          </a:prstGeom>
          <a:solidFill>
            <a:srgbClr val="3FCB9A"/>
          </a:solidFill>
          <a:ln w="12700">
            <a:solidFill>
              <a:srgbClr val="3FCB9A"/>
            </a:solidFill>
            <a:prstDash val="solid"/>
          </a:ln>
        </p:spPr>
      </p:sp>
      <p:sp>
        <p:nvSpPr>
          <p:cNvPr id="28" name="Shape 25"/>
          <p:cNvSpPr/>
          <p:nvPr/>
        </p:nvSpPr>
        <p:spPr>
          <a:xfrm>
            <a:off x="8814816" y="2194560"/>
            <a:ext cx="1325880" cy="594360"/>
          </a:xfrm>
          <a:prstGeom prst="roundRect">
            <a:avLst>
              <a:gd name="adj" fmla="val 12308"/>
            </a:avLst>
          </a:prstGeom>
          <a:solidFill>
            <a:srgbClr val="17392F"/>
          </a:solidFill>
          <a:ln w="12700">
            <a:solidFill>
              <a:srgbClr val="3FCB9A"/>
            </a:solidFill>
            <a:prstDash val="solid"/>
          </a:ln>
        </p:spPr>
      </p:sp>
      <p:sp>
        <p:nvSpPr>
          <p:cNvPr id="29" name="Text 26"/>
          <p:cNvSpPr/>
          <p:nvPr/>
        </p:nvSpPr>
        <p:spPr>
          <a:xfrm>
            <a:off x="8814816" y="2194560"/>
            <a:ext cx="1325880" cy="59436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Barrier Properties</a:t>
            </a:r>
            <a:endParaRPr lang="en-US" sz="1100" dirty="0"/>
          </a:p>
        </p:txBody>
      </p:sp>
      <p:sp>
        <p:nvSpPr>
          <p:cNvPr id="30" name="Shape 27"/>
          <p:cNvSpPr/>
          <p:nvPr/>
        </p:nvSpPr>
        <p:spPr>
          <a:xfrm>
            <a:off x="10158984" y="2395728"/>
            <a:ext cx="201168" cy="182880"/>
          </a:xfrm>
          <a:prstGeom prst="rightArrow">
            <a:avLst/>
          </a:prstGeom>
          <a:solidFill>
            <a:srgbClr val="3FCB9A"/>
          </a:solidFill>
          <a:ln w="12700">
            <a:solidFill>
              <a:srgbClr val="3FCB9A"/>
            </a:solidFill>
            <a:prstDash val="solid"/>
          </a:ln>
        </p:spPr>
      </p:sp>
      <p:sp>
        <p:nvSpPr>
          <p:cNvPr id="31" name="Shape 28"/>
          <p:cNvSpPr/>
          <p:nvPr/>
        </p:nvSpPr>
        <p:spPr>
          <a:xfrm>
            <a:off x="10387584" y="2194560"/>
            <a:ext cx="1325880" cy="594360"/>
          </a:xfrm>
          <a:prstGeom prst="roundRect">
            <a:avLst>
              <a:gd name="adj" fmla="val 12308"/>
            </a:avLst>
          </a:prstGeom>
          <a:solidFill>
            <a:srgbClr val="17392F"/>
          </a:solidFill>
          <a:ln w="12700">
            <a:solidFill>
              <a:srgbClr val="3FCB9A"/>
            </a:solidFill>
            <a:prstDash val="solid"/>
          </a:ln>
        </p:spPr>
      </p:sp>
      <p:sp>
        <p:nvSpPr>
          <p:cNvPr id="32" name="Text 29"/>
          <p:cNvSpPr/>
          <p:nvPr/>
        </p:nvSpPr>
        <p:spPr>
          <a:xfrm>
            <a:off x="10387584" y="2194560"/>
            <a:ext cx="1325880" cy="59436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Shelf-Life Requirement</a:t>
            </a:r>
            <a:endParaRPr lang="en-US" sz="1100" dirty="0"/>
          </a:p>
        </p:txBody>
      </p:sp>
      <p:sp>
        <p:nvSpPr>
          <p:cNvPr id="33" name="Text 30"/>
          <p:cNvSpPr/>
          <p:nvPr/>
        </p:nvSpPr>
        <p:spPr>
          <a:xfrm>
            <a:off x="5669280" y="3017520"/>
            <a:ext cx="6035040" cy="2011680"/>
          </a:xfrm>
          <a:prstGeom prst="rect">
            <a:avLst/>
          </a:prstGeom>
          <a:noFill/>
          <a:ln/>
        </p:spPr>
        <p:txBody>
          <a:bodyPr wrap="square" rtlCol="0" anchor="t"/>
          <a:lstStyle/>
          <a:p>
            <a:pPr marL="342900" indent="-342900">
              <a:spcAft>
                <a:spcPts val="800"/>
              </a:spcAft>
              <a:buSzPct val="100000"/>
              <a:buChar char="●"/>
            </a:pPr>
            <a:r>
              <a:rPr lang="en-US" sz="1400" dirty="0">
                <a:solidFill>
                  <a:srgbClr val="EFF7F3"/>
                </a:solidFill>
                <a:latin typeface="Calibri" pitchFamily="34" charset="0"/>
                <a:ea typeface="Calibri" pitchFamily="34" charset="-122"/>
                <a:cs typeface="Calibri" pitchFamily="34" charset="-120"/>
              </a:rPr>
              <a:t>Packaging requirements differ significantly across food commodities.</a:t>
            </a:r>
            <a:endParaRPr lang="en-US" sz="1400" dirty="0"/>
          </a:p>
          <a:p>
            <a:pPr marL="342900" indent="-342900">
              <a:spcAft>
                <a:spcPts val="800"/>
              </a:spcAft>
              <a:buSzPct val="100000"/>
              <a:buChar char="●"/>
            </a:pPr>
            <a:r>
              <a:rPr lang="en-US" sz="1400" dirty="0">
                <a:solidFill>
                  <a:srgbClr val="EFF7F3"/>
                </a:solidFill>
                <a:latin typeface="Calibri" pitchFamily="34" charset="0"/>
                <a:ea typeface="Calibri" pitchFamily="34" charset="-122"/>
                <a:cs typeface="Calibri" pitchFamily="34" charset="-120"/>
              </a:rPr>
              <a:t>Incorrect oxygen or moisture transmission can accelerate quality deterioration.</a:t>
            </a:r>
            <a:endParaRPr lang="en-US" sz="1400" dirty="0"/>
          </a:p>
          <a:p>
            <a:pPr marL="342900" indent="-342900">
              <a:spcAft>
                <a:spcPts val="800"/>
              </a:spcAft>
              <a:buSzPct val="100000"/>
              <a:buChar char="●"/>
            </a:pPr>
            <a:r>
              <a:rPr lang="en-US" sz="1400" dirty="0">
                <a:solidFill>
                  <a:srgbClr val="EFF7F3"/>
                </a:solidFill>
                <a:latin typeface="Calibri" pitchFamily="34" charset="0"/>
                <a:ea typeface="Calibri" pitchFamily="34" charset="-122"/>
                <a:cs typeface="Calibri" pitchFamily="34" charset="-120"/>
              </a:rPr>
              <a:t>Fresh produce needs controlled gas exchange due to respiration.</a:t>
            </a:r>
            <a:endParaRPr lang="en-US" sz="1400" dirty="0"/>
          </a:p>
          <a:p>
            <a:pPr marL="342900" indent="-342900">
              <a:spcAft>
                <a:spcPts val="800"/>
              </a:spcAft>
              <a:buSzPct val="100000"/>
              <a:buChar char="●"/>
            </a:pPr>
            <a:r>
              <a:rPr lang="en-US" sz="1400" dirty="0">
                <a:solidFill>
                  <a:srgbClr val="EFF7F3"/>
                </a:solidFill>
                <a:latin typeface="Calibri" pitchFamily="34" charset="0"/>
                <a:ea typeface="Calibri" pitchFamily="34" charset="-122"/>
                <a:cs typeface="Calibri" pitchFamily="34" charset="-120"/>
              </a:rPr>
              <a:t>Manual selection relies on domain expertise and iterative testing.</a:t>
            </a:r>
            <a:endParaRPr lang="en-US" sz="1400" dirty="0"/>
          </a:p>
        </p:txBody>
      </p:sp>
      <p:sp>
        <p:nvSpPr>
          <p:cNvPr id="34" name="Shape 31"/>
          <p:cNvSpPr/>
          <p:nvPr/>
        </p:nvSpPr>
        <p:spPr>
          <a:xfrm>
            <a:off x="5669280" y="5120640"/>
            <a:ext cx="6035040" cy="822960"/>
          </a:xfrm>
          <a:prstGeom prst="roundRect">
            <a:avLst>
              <a:gd name="adj" fmla="val 8889"/>
            </a:avLst>
          </a:prstGeom>
          <a:solidFill>
            <a:srgbClr val="152827"/>
          </a:solidFill>
          <a:ln w="12700">
            <a:solidFill>
              <a:srgbClr val="3FCB9A"/>
            </a:solidFill>
            <a:prstDash val="solid"/>
          </a:ln>
        </p:spPr>
      </p:sp>
      <p:sp>
        <p:nvSpPr>
          <p:cNvPr id="35" name="Text 32"/>
          <p:cNvSpPr/>
          <p:nvPr/>
        </p:nvSpPr>
        <p:spPr>
          <a:xfrm>
            <a:off x="5806440" y="5120640"/>
            <a:ext cx="5760720" cy="822960"/>
          </a:xfrm>
          <a:prstGeom prst="rect">
            <a:avLst/>
          </a:prstGeom>
          <a:noFill/>
          <a:ln/>
        </p:spPr>
        <p:txBody>
          <a:bodyPr wrap="square" rtlCol="0" anchor="ctr"/>
          <a:lstStyle/>
          <a:p>
            <a:pPr indent="0" marL="0">
              <a:buNone/>
            </a:pPr>
            <a:r>
              <a:rPr lang="en-US" sz="1300" b="1" dirty="0">
                <a:solidFill>
                  <a:srgbClr val="3FCB9A"/>
                </a:solidFill>
                <a:latin typeface="Calibri" pitchFamily="34" charset="0"/>
                <a:ea typeface="Calibri" pitchFamily="34" charset="-122"/>
                <a:cs typeface="Calibri" pitchFamily="34" charset="-120"/>
              </a:rPr>
              <a:t>Objective: </a:t>
            </a:r>
            <a:pPr indent="0" marL="0">
              <a:buNone/>
            </a:pPr>
            <a:r>
              <a:rPr lang="en-US" sz="1300" dirty="0">
                <a:solidFill>
                  <a:srgbClr val="EFF7F3"/>
                </a:solidFill>
                <a:latin typeface="Calibri" pitchFamily="34" charset="0"/>
                <a:ea typeface="Calibri" pitchFamily="34" charset="-122"/>
                <a:cs typeface="Calibri" pitchFamily="34" charset="-120"/>
              </a:rPr>
              <a:t>provide AI-assisted decision support before physical packaging trials — not replace packaging experts.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03 · PROPOSED SYSTEM</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PackSci AI — Hybrid Intelligent Architecture</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Deterministic Engineering Intelligence + Retrieval-Grounded Generative AI</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Shape 4"/>
          <p:cNvSpPr/>
          <p:nvPr/>
        </p:nvSpPr>
        <p:spPr>
          <a:xfrm>
            <a:off x="548640" y="2286000"/>
            <a:ext cx="1097280" cy="868680"/>
          </a:xfrm>
          <a:prstGeom prst="roundRect">
            <a:avLst>
              <a:gd name="adj" fmla="val 8421"/>
            </a:avLst>
          </a:prstGeom>
          <a:solidFill>
            <a:srgbClr val="152827"/>
          </a:solidFill>
          <a:ln w="12700">
            <a:solidFill>
              <a:srgbClr val="2A3D3B"/>
            </a:solidFill>
            <a:prstDash val="solid"/>
          </a:ln>
        </p:spPr>
      </p:sp>
      <p:sp>
        <p:nvSpPr>
          <p:cNvPr id="8" name="Text 5"/>
          <p:cNvSpPr/>
          <p:nvPr/>
        </p:nvSpPr>
        <p:spPr>
          <a:xfrm>
            <a:off x="548640" y="2286000"/>
            <a:ext cx="1097280" cy="86868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User</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Commodity + conditions</a:t>
            </a:r>
            <a:endParaRPr lang="en-US" sz="1100" dirty="0"/>
          </a:p>
        </p:txBody>
      </p:sp>
      <p:sp>
        <p:nvSpPr>
          <p:cNvPr id="9" name="Shape 6"/>
          <p:cNvSpPr/>
          <p:nvPr/>
        </p:nvSpPr>
        <p:spPr>
          <a:xfrm>
            <a:off x="1691640" y="2633472"/>
            <a:ext cx="274320" cy="182880"/>
          </a:xfrm>
          <a:prstGeom prst="rightArrow">
            <a:avLst/>
          </a:prstGeom>
          <a:solidFill>
            <a:srgbClr val="3FCB9A"/>
          </a:solidFill>
          <a:ln w="12700">
            <a:solidFill>
              <a:srgbClr val="3FCB9A"/>
            </a:solidFill>
            <a:prstDash val="solid"/>
          </a:ln>
        </p:spPr>
      </p:sp>
      <p:sp>
        <p:nvSpPr>
          <p:cNvPr id="10" name="Shape 7"/>
          <p:cNvSpPr/>
          <p:nvPr/>
        </p:nvSpPr>
        <p:spPr>
          <a:xfrm>
            <a:off x="2011680" y="2286000"/>
            <a:ext cx="1463040" cy="868680"/>
          </a:xfrm>
          <a:prstGeom prst="roundRect">
            <a:avLst>
              <a:gd name="adj" fmla="val 8421"/>
            </a:avLst>
          </a:prstGeom>
          <a:solidFill>
            <a:srgbClr val="152827"/>
          </a:solidFill>
          <a:ln w="12700">
            <a:solidFill>
              <a:srgbClr val="2A3D3B"/>
            </a:solidFill>
            <a:prstDash val="solid"/>
          </a:ln>
        </p:spPr>
      </p:sp>
      <p:sp>
        <p:nvSpPr>
          <p:cNvPr id="11" name="Text 8"/>
          <p:cNvSpPr/>
          <p:nvPr/>
        </p:nvSpPr>
        <p:spPr>
          <a:xfrm>
            <a:off x="2011680" y="2286000"/>
            <a:ext cx="1463040" cy="86868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React + TS UI</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Analysis dashboard</a:t>
            </a:r>
            <a:endParaRPr lang="en-US" sz="1100" dirty="0"/>
          </a:p>
        </p:txBody>
      </p:sp>
      <p:sp>
        <p:nvSpPr>
          <p:cNvPr id="12" name="Shape 9"/>
          <p:cNvSpPr/>
          <p:nvPr/>
        </p:nvSpPr>
        <p:spPr>
          <a:xfrm>
            <a:off x="3520440" y="2633472"/>
            <a:ext cx="274320" cy="182880"/>
          </a:xfrm>
          <a:prstGeom prst="rightArrow">
            <a:avLst/>
          </a:prstGeom>
          <a:solidFill>
            <a:srgbClr val="3FCB9A"/>
          </a:solidFill>
          <a:ln w="12700">
            <a:solidFill>
              <a:srgbClr val="3FCB9A"/>
            </a:solidFill>
            <a:prstDash val="solid"/>
          </a:ln>
        </p:spPr>
      </p:sp>
      <p:sp>
        <p:nvSpPr>
          <p:cNvPr id="13" name="Shape 10"/>
          <p:cNvSpPr/>
          <p:nvPr/>
        </p:nvSpPr>
        <p:spPr>
          <a:xfrm>
            <a:off x="3840480" y="2286000"/>
            <a:ext cx="1463040" cy="868680"/>
          </a:xfrm>
          <a:prstGeom prst="roundRect">
            <a:avLst>
              <a:gd name="adj" fmla="val 8421"/>
            </a:avLst>
          </a:prstGeom>
          <a:solidFill>
            <a:srgbClr val="152827"/>
          </a:solidFill>
          <a:ln w="12700">
            <a:solidFill>
              <a:srgbClr val="2A3D3B"/>
            </a:solidFill>
            <a:prstDash val="solid"/>
          </a:ln>
        </p:spPr>
      </p:sp>
      <p:sp>
        <p:nvSpPr>
          <p:cNvPr id="14" name="Text 11"/>
          <p:cNvSpPr/>
          <p:nvPr/>
        </p:nvSpPr>
        <p:spPr>
          <a:xfrm>
            <a:off x="3840480" y="2286000"/>
            <a:ext cx="1463040" cy="86868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FastAPI Backend</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Validation &amp; security</a:t>
            </a:r>
            <a:endParaRPr lang="en-US" sz="1100" dirty="0"/>
          </a:p>
        </p:txBody>
      </p:sp>
      <p:sp>
        <p:nvSpPr>
          <p:cNvPr id="15" name="Shape 12"/>
          <p:cNvSpPr/>
          <p:nvPr/>
        </p:nvSpPr>
        <p:spPr>
          <a:xfrm>
            <a:off x="5349240" y="2633472"/>
            <a:ext cx="274320" cy="182880"/>
          </a:xfrm>
          <a:prstGeom prst="rightArrow">
            <a:avLst/>
          </a:prstGeom>
          <a:solidFill>
            <a:srgbClr val="3FCB9A"/>
          </a:solidFill>
          <a:ln w="12700">
            <a:solidFill>
              <a:srgbClr val="3FCB9A"/>
            </a:solidFill>
            <a:prstDash val="solid"/>
          </a:ln>
        </p:spPr>
      </p:sp>
      <p:sp>
        <p:nvSpPr>
          <p:cNvPr id="16" name="Shape 13"/>
          <p:cNvSpPr/>
          <p:nvPr/>
        </p:nvSpPr>
        <p:spPr>
          <a:xfrm>
            <a:off x="5669280" y="1828800"/>
            <a:ext cx="2194560" cy="822960"/>
          </a:xfrm>
          <a:prstGeom prst="roundRect">
            <a:avLst>
              <a:gd name="adj" fmla="val 8889"/>
            </a:avLst>
          </a:prstGeom>
          <a:solidFill>
            <a:srgbClr val="17392F"/>
          </a:solidFill>
          <a:ln w="12700">
            <a:solidFill>
              <a:srgbClr val="3FCB9A"/>
            </a:solidFill>
            <a:prstDash val="solid"/>
          </a:ln>
        </p:spPr>
      </p:sp>
      <p:sp>
        <p:nvSpPr>
          <p:cNvPr id="17" name="Text 14"/>
          <p:cNvSpPr/>
          <p:nvPr/>
        </p:nvSpPr>
        <p:spPr>
          <a:xfrm>
            <a:off x="5669280" y="1828800"/>
            <a:ext cx="2194560" cy="82296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Decision Engine</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Rules + weighted scoring + ML</a:t>
            </a:r>
            <a:endParaRPr lang="en-US" sz="1100" dirty="0"/>
          </a:p>
        </p:txBody>
      </p:sp>
      <p:sp>
        <p:nvSpPr>
          <p:cNvPr id="18" name="Shape 15"/>
          <p:cNvSpPr/>
          <p:nvPr/>
        </p:nvSpPr>
        <p:spPr>
          <a:xfrm>
            <a:off x="5669280" y="2788920"/>
            <a:ext cx="2194560" cy="822960"/>
          </a:xfrm>
          <a:prstGeom prst="roundRect">
            <a:avLst>
              <a:gd name="adj" fmla="val 8889"/>
            </a:avLst>
          </a:prstGeom>
          <a:solidFill>
            <a:srgbClr val="17392F"/>
          </a:solidFill>
          <a:ln w="12700">
            <a:solidFill>
              <a:srgbClr val="3FCB9A"/>
            </a:solidFill>
            <a:prstDash val="solid"/>
          </a:ln>
        </p:spPr>
      </p:sp>
      <p:sp>
        <p:nvSpPr>
          <p:cNvPr id="19" name="Text 16"/>
          <p:cNvSpPr/>
          <p:nvPr/>
        </p:nvSpPr>
        <p:spPr>
          <a:xfrm>
            <a:off x="5669280" y="2788920"/>
            <a:ext cx="2194560" cy="82296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RAG Knowledge Pipeline</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Qdrant + embeddings + sources</a:t>
            </a:r>
            <a:endParaRPr lang="en-US" sz="1100" dirty="0"/>
          </a:p>
        </p:txBody>
      </p:sp>
      <p:sp>
        <p:nvSpPr>
          <p:cNvPr id="20" name="Shape 17"/>
          <p:cNvSpPr/>
          <p:nvPr/>
        </p:nvSpPr>
        <p:spPr>
          <a:xfrm>
            <a:off x="7909560" y="2633472"/>
            <a:ext cx="274320" cy="182880"/>
          </a:xfrm>
          <a:prstGeom prst="rightArrow">
            <a:avLst/>
          </a:prstGeom>
          <a:solidFill>
            <a:srgbClr val="3FCB9A"/>
          </a:solidFill>
          <a:ln w="12700">
            <a:solidFill>
              <a:srgbClr val="3FCB9A"/>
            </a:solidFill>
            <a:prstDash val="solid"/>
          </a:ln>
        </p:spPr>
      </p:sp>
      <p:sp>
        <p:nvSpPr>
          <p:cNvPr id="21" name="Shape 18"/>
          <p:cNvSpPr/>
          <p:nvPr/>
        </p:nvSpPr>
        <p:spPr>
          <a:xfrm>
            <a:off x="8229600" y="2286000"/>
            <a:ext cx="1371600" cy="868680"/>
          </a:xfrm>
          <a:prstGeom prst="roundRect">
            <a:avLst>
              <a:gd name="adj" fmla="val 8421"/>
            </a:avLst>
          </a:prstGeom>
          <a:solidFill>
            <a:srgbClr val="152827"/>
          </a:solidFill>
          <a:ln w="12700">
            <a:solidFill>
              <a:srgbClr val="2A3D3B"/>
            </a:solidFill>
            <a:prstDash val="solid"/>
          </a:ln>
        </p:spPr>
      </p:sp>
      <p:sp>
        <p:nvSpPr>
          <p:cNvPr id="22" name="Text 19"/>
          <p:cNvSpPr/>
          <p:nvPr/>
        </p:nvSpPr>
        <p:spPr>
          <a:xfrm>
            <a:off x="8229600" y="2286000"/>
            <a:ext cx="1371600" cy="86868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Groq LLM</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Explanation layer</a:t>
            </a:r>
            <a:endParaRPr lang="en-US" sz="1100" dirty="0"/>
          </a:p>
        </p:txBody>
      </p:sp>
      <p:sp>
        <p:nvSpPr>
          <p:cNvPr id="23" name="Shape 20"/>
          <p:cNvSpPr/>
          <p:nvPr/>
        </p:nvSpPr>
        <p:spPr>
          <a:xfrm>
            <a:off x="9646920" y="2633472"/>
            <a:ext cx="274320" cy="182880"/>
          </a:xfrm>
          <a:prstGeom prst="rightArrow">
            <a:avLst/>
          </a:prstGeom>
          <a:solidFill>
            <a:srgbClr val="3FCB9A"/>
          </a:solidFill>
          <a:ln w="12700">
            <a:solidFill>
              <a:srgbClr val="3FCB9A"/>
            </a:solidFill>
            <a:prstDash val="solid"/>
          </a:ln>
        </p:spPr>
      </p:sp>
      <p:sp>
        <p:nvSpPr>
          <p:cNvPr id="24" name="Shape 21"/>
          <p:cNvSpPr/>
          <p:nvPr/>
        </p:nvSpPr>
        <p:spPr>
          <a:xfrm>
            <a:off x="9966960" y="2286000"/>
            <a:ext cx="1673352" cy="868680"/>
          </a:xfrm>
          <a:prstGeom prst="roundRect">
            <a:avLst>
              <a:gd name="adj" fmla="val 8421"/>
            </a:avLst>
          </a:prstGeom>
          <a:solidFill>
            <a:srgbClr val="17392F"/>
          </a:solidFill>
          <a:ln w="12700">
            <a:solidFill>
              <a:srgbClr val="3FCB9A"/>
            </a:solidFill>
            <a:prstDash val="solid"/>
          </a:ln>
        </p:spPr>
      </p:sp>
      <p:sp>
        <p:nvSpPr>
          <p:cNvPr id="25" name="Text 22"/>
          <p:cNvSpPr/>
          <p:nvPr/>
        </p:nvSpPr>
        <p:spPr>
          <a:xfrm>
            <a:off x="9966960" y="2286000"/>
            <a:ext cx="1673352" cy="868680"/>
          </a:xfrm>
          <a:prstGeom prst="rect">
            <a:avLst/>
          </a:prstGeom>
          <a:noFill/>
          <a:ln/>
        </p:spPr>
        <p:txBody>
          <a:bodyPr wrap="square" lIns="50800" tIns="50800" rIns="50800" bIns="50800" rtlCol="0" anchor="ctr"/>
          <a:lstStyle/>
          <a:p>
            <a:pPr algn="ctr" indent="0" marL="0">
              <a:buNone/>
            </a:pPr>
            <a:r>
              <a:rPr lang="en-US" sz="1100" dirty="0">
                <a:solidFill>
                  <a:srgbClr val="EFF7F3"/>
                </a:solidFill>
                <a:latin typeface="Calibri" pitchFamily="34" charset="0"/>
                <a:ea typeface="Calibri" pitchFamily="34" charset="-122"/>
                <a:cs typeface="Calibri" pitchFamily="34" charset="-120"/>
              </a:rPr>
              <a:t>Packaging Report</a:t>
            </a:r>
            <a:endParaRPr lang="en-US" sz="1100" dirty="0"/>
          </a:p>
          <a:p>
            <a:pPr algn="ctr" indent="0" marL="0">
              <a:buNone/>
            </a:pPr>
            <a:r>
              <a:rPr lang="en-US" sz="1100" dirty="0">
                <a:solidFill>
                  <a:srgbClr val="EFF7F3"/>
                </a:solidFill>
                <a:latin typeface="Calibri" pitchFamily="34" charset="0"/>
                <a:ea typeface="Calibri" pitchFamily="34" charset="-122"/>
                <a:cs typeface="Calibri" pitchFamily="34" charset="-120"/>
              </a:rPr>
              <a:t>Ranked materials + rationale</a:t>
            </a:r>
            <a:endParaRPr lang="en-US" sz="1100" dirty="0"/>
          </a:p>
        </p:txBody>
      </p:sp>
      <p:sp>
        <p:nvSpPr>
          <p:cNvPr id="26" name="Shape 23"/>
          <p:cNvSpPr/>
          <p:nvPr/>
        </p:nvSpPr>
        <p:spPr>
          <a:xfrm>
            <a:off x="548640" y="3931920"/>
            <a:ext cx="11064240" cy="914400"/>
          </a:xfrm>
          <a:prstGeom prst="roundRect">
            <a:avLst>
              <a:gd name="adj" fmla="val 8000"/>
            </a:avLst>
          </a:prstGeom>
          <a:solidFill>
            <a:srgbClr val="152827"/>
          </a:solidFill>
          <a:ln w="12700">
            <a:solidFill>
              <a:srgbClr val="2A3D3B"/>
            </a:solidFill>
            <a:prstDash val="solid"/>
          </a:ln>
        </p:spPr>
      </p:sp>
      <p:sp>
        <p:nvSpPr>
          <p:cNvPr id="27" name="Text 24"/>
          <p:cNvSpPr/>
          <p:nvPr/>
        </p:nvSpPr>
        <p:spPr>
          <a:xfrm>
            <a:off x="731520" y="4023360"/>
            <a:ext cx="18288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PERSISTENCE</a:t>
            </a:r>
            <a:endParaRPr lang="en-US" sz="1000" dirty="0"/>
          </a:p>
        </p:txBody>
      </p:sp>
      <p:sp>
        <p:nvSpPr>
          <p:cNvPr id="28" name="Text 25"/>
          <p:cNvSpPr/>
          <p:nvPr/>
        </p:nvSpPr>
        <p:spPr>
          <a:xfrm>
            <a:off x="731520" y="4297680"/>
            <a:ext cx="1828800" cy="411480"/>
          </a:xfrm>
          <a:prstGeom prst="rect">
            <a:avLst/>
          </a:prstGeom>
          <a:noFill/>
          <a:ln/>
        </p:spPr>
        <p:txBody>
          <a:bodyPr wrap="square" rtlCol="0" anchor="ctr"/>
          <a:lstStyle/>
          <a:p>
            <a:pPr indent="0" marL="0">
              <a:buNone/>
            </a:pPr>
            <a:r>
              <a:rPr lang="en-US" sz="1800" b="1" dirty="0">
                <a:solidFill>
                  <a:srgbClr val="EFF7F3"/>
                </a:solidFill>
                <a:latin typeface="Calibri" pitchFamily="34" charset="0"/>
                <a:ea typeface="Calibri" pitchFamily="34" charset="-122"/>
                <a:cs typeface="Calibri" pitchFamily="34" charset="-120"/>
              </a:rPr>
              <a:t>PostgreSQL</a:t>
            </a:r>
            <a:endParaRPr lang="en-US" sz="1800" dirty="0"/>
          </a:p>
        </p:txBody>
      </p:sp>
      <p:sp>
        <p:nvSpPr>
          <p:cNvPr id="29" name="Text 26"/>
          <p:cNvSpPr/>
          <p:nvPr/>
        </p:nvSpPr>
        <p:spPr>
          <a:xfrm>
            <a:off x="2743200" y="3931920"/>
            <a:ext cx="8686800" cy="914400"/>
          </a:xfrm>
          <a:prstGeom prst="rect">
            <a:avLst/>
          </a:prstGeom>
          <a:noFill/>
          <a:ln/>
        </p:spPr>
        <p:txBody>
          <a:bodyPr wrap="square" rtlCol="0" anchor="ctr"/>
          <a:lstStyle/>
          <a:p>
            <a:pPr indent="0" marL="0">
              <a:buNone/>
            </a:pPr>
            <a:r>
              <a:rPr lang="en-US" sz="1300" dirty="0">
                <a:solidFill>
                  <a:srgbClr val="9AB5AE"/>
                </a:solidFill>
                <a:latin typeface="Calibri" pitchFamily="34" charset="0"/>
                <a:ea typeface="Calibri" pitchFamily="34" charset="-122"/>
                <a:cs typeface="Calibri" pitchFamily="34" charset="-120"/>
              </a:rPr>
              <a:t>Users · Commodities · Packaging materials · Material properties · Recommendations · Analysis history · Knowledge metadata</a:t>
            </a:r>
            <a:endParaRPr lang="en-US" sz="1300" dirty="0"/>
          </a:p>
        </p:txBody>
      </p:sp>
      <p:sp>
        <p:nvSpPr>
          <p:cNvPr id="30" name="Shape 27"/>
          <p:cNvSpPr/>
          <p:nvPr/>
        </p:nvSpPr>
        <p:spPr>
          <a:xfrm>
            <a:off x="548640" y="5166360"/>
            <a:ext cx="1691640" cy="0"/>
          </a:xfrm>
          <a:prstGeom prst="line">
            <a:avLst/>
          </a:prstGeom>
          <a:noFill/>
          <a:ln w="19050">
            <a:solidFill>
              <a:srgbClr val="3FCB9A"/>
            </a:solidFill>
            <a:prstDash val="solid"/>
          </a:ln>
        </p:spPr>
      </p:sp>
      <p:sp>
        <p:nvSpPr>
          <p:cNvPr id="31" name="Text 28"/>
          <p:cNvSpPr/>
          <p:nvPr/>
        </p:nvSpPr>
        <p:spPr>
          <a:xfrm>
            <a:off x="548640"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FRONTEND</a:t>
            </a:r>
            <a:endParaRPr lang="en-US" sz="1000" dirty="0"/>
          </a:p>
        </p:txBody>
      </p:sp>
      <p:sp>
        <p:nvSpPr>
          <p:cNvPr id="32" name="Text 29"/>
          <p:cNvSpPr/>
          <p:nvPr/>
        </p:nvSpPr>
        <p:spPr>
          <a:xfrm>
            <a:off x="548640"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React, TypeScript, Tailwind</a:t>
            </a:r>
            <a:endParaRPr lang="en-US" sz="1200" dirty="0"/>
          </a:p>
        </p:txBody>
      </p:sp>
      <p:sp>
        <p:nvSpPr>
          <p:cNvPr id="33" name="Shape 30"/>
          <p:cNvSpPr/>
          <p:nvPr/>
        </p:nvSpPr>
        <p:spPr>
          <a:xfrm>
            <a:off x="2404872" y="5166360"/>
            <a:ext cx="1691640" cy="0"/>
          </a:xfrm>
          <a:prstGeom prst="line">
            <a:avLst/>
          </a:prstGeom>
          <a:noFill/>
          <a:ln w="19050">
            <a:solidFill>
              <a:srgbClr val="3FCB9A"/>
            </a:solidFill>
            <a:prstDash val="solid"/>
          </a:ln>
        </p:spPr>
      </p:sp>
      <p:sp>
        <p:nvSpPr>
          <p:cNvPr id="34" name="Text 31"/>
          <p:cNvSpPr/>
          <p:nvPr/>
        </p:nvSpPr>
        <p:spPr>
          <a:xfrm>
            <a:off x="2404872"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BACKEND</a:t>
            </a:r>
            <a:endParaRPr lang="en-US" sz="1000" dirty="0"/>
          </a:p>
        </p:txBody>
      </p:sp>
      <p:sp>
        <p:nvSpPr>
          <p:cNvPr id="35" name="Text 32"/>
          <p:cNvSpPr/>
          <p:nvPr/>
        </p:nvSpPr>
        <p:spPr>
          <a:xfrm>
            <a:off x="2404872"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FastAPI, Python</a:t>
            </a:r>
            <a:endParaRPr lang="en-US" sz="1200" dirty="0"/>
          </a:p>
        </p:txBody>
      </p:sp>
      <p:sp>
        <p:nvSpPr>
          <p:cNvPr id="36" name="Shape 33"/>
          <p:cNvSpPr/>
          <p:nvPr/>
        </p:nvSpPr>
        <p:spPr>
          <a:xfrm>
            <a:off x="4261104" y="5166360"/>
            <a:ext cx="1691640" cy="0"/>
          </a:xfrm>
          <a:prstGeom prst="line">
            <a:avLst/>
          </a:prstGeom>
          <a:noFill/>
          <a:ln w="19050">
            <a:solidFill>
              <a:srgbClr val="3FCB9A"/>
            </a:solidFill>
            <a:prstDash val="solid"/>
          </a:ln>
        </p:spPr>
      </p:sp>
      <p:sp>
        <p:nvSpPr>
          <p:cNvPr id="37" name="Text 34"/>
          <p:cNvSpPr/>
          <p:nvPr/>
        </p:nvSpPr>
        <p:spPr>
          <a:xfrm>
            <a:off x="4261104"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DATABASE</a:t>
            </a:r>
            <a:endParaRPr lang="en-US" sz="1000" dirty="0"/>
          </a:p>
        </p:txBody>
      </p:sp>
      <p:sp>
        <p:nvSpPr>
          <p:cNvPr id="38" name="Text 35"/>
          <p:cNvSpPr/>
          <p:nvPr/>
        </p:nvSpPr>
        <p:spPr>
          <a:xfrm>
            <a:off x="4261104"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PostgreSQL</a:t>
            </a:r>
            <a:endParaRPr lang="en-US" sz="1200" dirty="0"/>
          </a:p>
        </p:txBody>
      </p:sp>
      <p:sp>
        <p:nvSpPr>
          <p:cNvPr id="39" name="Shape 36"/>
          <p:cNvSpPr/>
          <p:nvPr/>
        </p:nvSpPr>
        <p:spPr>
          <a:xfrm>
            <a:off x="6117336" y="5166360"/>
            <a:ext cx="1691640" cy="0"/>
          </a:xfrm>
          <a:prstGeom prst="line">
            <a:avLst/>
          </a:prstGeom>
          <a:noFill/>
          <a:ln w="19050">
            <a:solidFill>
              <a:srgbClr val="3FCB9A"/>
            </a:solidFill>
            <a:prstDash val="solid"/>
          </a:ln>
        </p:spPr>
      </p:sp>
      <p:sp>
        <p:nvSpPr>
          <p:cNvPr id="40" name="Text 37"/>
          <p:cNvSpPr/>
          <p:nvPr/>
        </p:nvSpPr>
        <p:spPr>
          <a:xfrm>
            <a:off x="6117336"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VECTOR DB</a:t>
            </a:r>
            <a:endParaRPr lang="en-US" sz="1000" dirty="0"/>
          </a:p>
        </p:txBody>
      </p:sp>
      <p:sp>
        <p:nvSpPr>
          <p:cNvPr id="41" name="Text 38"/>
          <p:cNvSpPr/>
          <p:nvPr/>
        </p:nvSpPr>
        <p:spPr>
          <a:xfrm>
            <a:off x="6117336"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Qdrant Cloud</a:t>
            </a:r>
            <a:endParaRPr lang="en-US" sz="1200" dirty="0"/>
          </a:p>
        </p:txBody>
      </p:sp>
      <p:sp>
        <p:nvSpPr>
          <p:cNvPr id="42" name="Shape 39"/>
          <p:cNvSpPr/>
          <p:nvPr/>
        </p:nvSpPr>
        <p:spPr>
          <a:xfrm>
            <a:off x="7973568" y="5166360"/>
            <a:ext cx="1691640" cy="0"/>
          </a:xfrm>
          <a:prstGeom prst="line">
            <a:avLst/>
          </a:prstGeom>
          <a:noFill/>
          <a:ln w="19050">
            <a:solidFill>
              <a:srgbClr val="3FCB9A"/>
            </a:solidFill>
            <a:prstDash val="solid"/>
          </a:ln>
        </p:spPr>
      </p:sp>
      <p:sp>
        <p:nvSpPr>
          <p:cNvPr id="43" name="Text 40"/>
          <p:cNvSpPr/>
          <p:nvPr/>
        </p:nvSpPr>
        <p:spPr>
          <a:xfrm>
            <a:off x="7973568"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AI</a:t>
            </a:r>
            <a:endParaRPr lang="en-US" sz="1000" dirty="0"/>
          </a:p>
        </p:txBody>
      </p:sp>
      <p:sp>
        <p:nvSpPr>
          <p:cNvPr id="44" name="Text 41"/>
          <p:cNvSpPr/>
          <p:nvPr/>
        </p:nvSpPr>
        <p:spPr>
          <a:xfrm>
            <a:off x="7973568"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Groq LLM</a:t>
            </a:r>
            <a:endParaRPr lang="en-US" sz="1200" dirty="0"/>
          </a:p>
        </p:txBody>
      </p:sp>
      <p:sp>
        <p:nvSpPr>
          <p:cNvPr id="45" name="Shape 42"/>
          <p:cNvSpPr/>
          <p:nvPr/>
        </p:nvSpPr>
        <p:spPr>
          <a:xfrm>
            <a:off x="9829800" y="5166360"/>
            <a:ext cx="1691640" cy="0"/>
          </a:xfrm>
          <a:prstGeom prst="line">
            <a:avLst/>
          </a:prstGeom>
          <a:noFill/>
          <a:ln w="19050">
            <a:solidFill>
              <a:srgbClr val="3FCB9A"/>
            </a:solidFill>
            <a:prstDash val="solid"/>
          </a:ln>
        </p:spPr>
      </p:sp>
      <p:sp>
        <p:nvSpPr>
          <p:cNvPr id="46" name="Text 43"/>
          <p:cNvSpPr/>
          <p:nvPr/>
        </p:nvSpPr>
        <p:spPr>
          <a:xfrm>
            <a:off x="9829800" y="5257800"/>
            <a:ext cx="173736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EMBEDDING</a:t>
            </a:r>
            <a:endParaRPr lang="en-US" sz="1000" dirty="0"/>
          </a:p>
        </p:txBody>
      </p:sp>
      <p:sp>
        <p:nvSpPr>
          <p:cNvPr id="47" name="Text 44"/>
          <p:cNvSpPr/>
          <p:nvPr/>
        </p:nvSpPr>
        <p:spPr>
          <a:xfrm>
            <a:off x="9829800" y="5532120"/>
            <a:ext cx="1737360" cy="548640"/>
          </a:xfrm>
          <a:prstGeom prst="rect">
            <a:avLst/>
          </a:prstGeom>
          <a:noFill/>
          <a:ln/>
        </p:spPr>
        <p:txBody>
          <a:bodyPr wrap="square" rtlCol="0" anchor="t"/>
          <a:lstStyle/>
          <a:p>
            <a:pPr indent="0" marL="0">
              <a:buNone/>
            </a:pPr>
            <a:r>
              <a:rPr lang="en-US" sz="1200" dirty="0">
                <a:solidFill>
                  <a:srgbClr val="3FCB9A"/>
                </a:solidFill>
                <a:latin typeface="Calibri" pitchFamily="34" charset="0"/>
                <a:ea typeface="Calibri" pitchFamily="34" charset="-122"/>
                <a:cs typeface="Calibri" pitchFamily="34" charset="-120"/>
              </a:rPr>
              <a:t>FastEmbed / ONNX</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04 · DECISION ENGINE</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From Food Properties to Packaging Score</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A multi-criteria engineering decision model</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Shape 4"/>
          <p:cNvSpPr/>
          <p:nvPr/>
        </p:nvSpPr>
        <p:spPr>
          <a:xfrm>
            <a:off x="548640" y="1828800"/>
            <a:ext cx="2103120" cy="502920"/>
          </a:xfrm>
          <a:prstGeom prst="roundRect">
            <a:avLst>
              <a:gd name="adj" fmla="val 14545"/>
            </a:avLst>
          </a:prstGeom>
          <a:solidFill>
            <a:srgbClr val="152827"/>
          </a:solidFill>
          <a:ln w="12700">
            <a:solidFill>
              <a:srgbClr val="2A3D3B"/>
            </a:solidFill>
            <a:prstDash val="solid"/>
          </a:ln>
        </p:spPr>
      </p:sp>
      <p:sp>
        <p:nvSpPr>
          <p:cNvPr id="8" name="Text 5"/>
          <p:cNvSpPr/>
          <p:nvPr/>
        </p:nvSpPr>
        <p:spPr>
          <a:xfrm>
            <a:off x="548640" y="1828800"/>
            <a:ext cx="2103120" cy="502920"/>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Food Properties</a:t>
            </a:r>
            <a:endParaRPr lang="en-US" sz="1200" dirty="0"/>
          </a:p>
        </p:txBody>
      </p:sp>
      <p:sp>
        <p:nvSpPr>
          <p:cNvPr id="9" name="Shape 6"/>
          <p:cNvSpPr/>
          <p:nvPr/>
        </p:nvSpPr>
        <p:spPr>
          <a:xfrm>
            <a:off x="1508760" y="2359152"/>
            <a:ext cx="182880" cy="201168"/>
          </a:xfrm>
          <a:prstGeom prst="downArrow">
            <a:avLst/>
          </a:prstGeom>
          <a:solidFill>
            <a:srgbClr val="3FCB9A"/>
          </a:solidFill>
          <a:ln w="12700">
            <a:solidFill>
              <a:srgbClr val="3FCB9A"/>
            </a:solidFill>
            <a:prstDash val="solid"/>
          </a:ln>
        </p:spPr>
      </p:sp>
      <p:sp>
        <p:nvSpPr>
          <p:cNvPr id="10" name="Shape 7"/>
          <p:cNvSpPr/>
          <p:nvPr/>
        </p:nvSpPr>
        <p:spPr>
          <a:xfrm>
            <a:off x="548640" y="2587752"/>
            <a:ext cx="2103120" cy="502920"/>
          </a:xfrm>
          <a:prstGeom prst="roundRect">
            <a:avLst>
              <a:gd name="adj" fmla="val 14545"/>
            </a:avLst>
          </a:prstGeom>
          <a:solidFill>
            <a:srgbClr val="152827"/>
          </a:solidFill>
          <a:ln w="12700">
            <a:solidFill>
              <a:srgbClr val="2A3D3B"/>
            </a:solidFill>
            <a:prstDash val="solid"/>
          </a:ln>
        </p:spPr>
      </p:sp>
      <p:sp>
        <p:nvSpPr>
          <p:cNvPr id="11" name="Text 8"/>
          <p:cNvSpPr/>
          <p:nvPr/>
        </p:nvSpPr>
        <p:spPr>
          <a:xfrm>
            <a:off x="548640" y="2587752"/>
            <a:ext cx="2103120" cy="502920"/>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Engineering Constraints</a:t>
            </a:r>
            <a:endParaRPr lang="en-US" sz="1200" dirty="0"/>
          </a:p>
        </p:txBody>
      </p:sp>
      <p:sp>
        <p:nvSpPr>
          <p:cNvPr id="12" name="Shape 9"/>
          <p:cNvSpPr/>
          <p:nvPr/>
        </p:nvSpPr>
        <p:spPr>
          <a:xfrm>
            <a:off x="1508760" y="3118104"/>
            <a:ext cx="182880" cy="201168"/>
          </a:xfrm>
          <a:prstGeom prst="downArrow">
            <a:avLst/>
          </a:prstGeom>
          <a:solidFill>
            <a:srgbClr val="3FCB9A"/>
          </a:solidFill>
          <a:ln w="12700">
            <a:solidFill>
              <a:srgbClr val="3FCB9A"/>
            </a:solidFill>
            <a:prstDash val="solid"/>
          </a:ln>
        </p:spPr>
      </p:sp>
      <p:sp>
        <p:nvSpPr>
          <p:cNvPr id="13" name="Shape 10"/>
          <p:cNvSpPr/>
          <p:nvPr/>
        </p:nvSpPr>
        <p:spPr>
          <a:xfrm>
            <a:off x="548640" y="3346704"/>
            <a:ext cx="2103120" cy="502920"/>
          </a:xfrm>
          <a:prstGeom prst="roundRect">
            <a:avLst>
              <a:gd name="adj" fmla="val 14545"/>
            </a:avLst>
          </a:prstGeom>
          <a:solidFill>
            <a:srgbClr val="152827"/>
          </a:solidFill>
          <a:ln w="12700">
            <a:solidFill>
              <a:srgbClr val="2A3D3B"/>
            </a:solidFill>
            <a:prstDash val="solid"/>
          </a:ln>
        </p:spPr>
      </p:sp>
      <p:sp>
        <p:nvSpPr>
          <p:cNvPr id="14" name="Text 11"/>
          <p:cNvSpPr/>
          <p:nvPr/>
        </p:nvSpPr>
        <p:spPr>
          <a:xfrm>
            <a:off x="548640" y="3346704"/>
            <a:ext cx="2103120" cy="502920"/>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Candidate Filtering</a:t>
            </a:r>
            <a:endParaRPr lang="en-US" sz="1200" dirty="0"/>
          </a:p>
        </p:txBody>
      </p:sp>
      <p:sp>
        <p:nvSpPr>
          <p:cNvPr id="15" name="Shape 12"/>
          <p:cNvSpPr/>
          <p:nvPr/>
        </p:nvSpPr>
        <p:spPr>
          <a:xfrm>
            <a:off x="1508760" y="3877056"/>
            <a:ext cx="182880" cy="201168"/>
          </a:xfrm>
          <a:prstGeom prst="downArrow">
            <a:avLst/>
          </a:prstGeom>
          <a:solidFill>
            <a:srgbClr val="3FCB9A"/>
          </a:solidFill>
          <a:ln w="12700">
            <a:solidFill>
              <a:srgbClr val="3FCB9A"/>
            </a:solidFill>
            <a:prstDash val="solid"/>
          </a:ln>
        </p:spPr>
      </p:sp>
      <p:sp>
        <p:nvSpPr>
          <p:cNvPr id="16" name="Shape 13"/>
          <p:cNvSpPr/>
          <p:nvPr/>
        </p:nvSpPr>
        <p:spPr>
          <a:xfrm>
            <a:off x="548640" y="4105656"/>
            <a:ext cx="2103120" cy="502920"/>
          </a:xfrm>
          <a:prstGeom prst="roundRect">
            <a:avLst>
              <a:gd name="adj" fmla="val 14545"/>
            </a:avLst>
          </a:prstGeom>
          <a:solidFill>
            <a:srgbClr val="17392F"/>
          </a:solidFill>
          <a:ln w="12700">
            <a:solidFill>
              <a:srgbClr val="3FCB9A"/>
            </a:solidFill>
            <a:prstDash val="solid"/>
          </a:ln>
        </p:spPr>
      </p:sp>
      <p:sp>
        <p:nvSpPr>
          <p:cNvPr id="17" name="Text 14"/>
          <p:cNvSpPr/>
          <p:nvPr/>
        </p:nvSpPr>
        <p:spPr>
          <a:xfrm>
            <a:off x="548640" y="4105656"/>
            <a:ext cx="2103120" cy="502920"/>
          </a:xfrm>
          <a:prstGeom prst="rect">
            <a:avLst/>
          </a:prstGeom>
          <a:noFill/>
          <a:ln/>
        </p:spPr>
        <p:txBody>
          <a:bodyPr wrap="square" lIns="50800" tIns="50800" rIns="50800" bIns="50800" rtlCol="0" anchor="ctr"/>
          <a:lstStyle/>
          <a:p>
            <a:pPr algn="ctr" indent="0" marL="0">
              <a:buNone/>
            </a:pPr>
            <a:r>
              <a:rPr lang="en-US" sz="1200" b="1" dirty="0">
                <a:solidFill>
                  <a:srgbClr val="EFF7F3"/>
                </a:solidFill>
                <a:latin typeface="Calibri" pitchFamily="34" charset="0"/>
                <a:ea typeface="Calibri" pitchFamily="34" charset="-122"/>
                <a:cs typeface="Calibri" pitchFamily="34" charset="-120"/>
              </a:rPr>
              <a:t>Weighted Scoring</a:t>
            </a:r>
            <a:endParaRPr lang="en-US" sz="1200" dirty="0"/>
          </a:p>
        </p:txBody>
      </p:sp>
      <p:sp>
        <p:nvSpPr>
          <p:cNvPr id="18" name="Shape 15"/>
          <p:cNvSpPr/>
          <p:nvPr/>
        </p:nvSpPr>
        <p:spPr>
          <a:xfrm>
            <a:off x="1508760" y="4636008"/>
            <a:ext cx="182880" cy="201168"/>
          </a:xfrm>
          <a:prstGeom prst="downArrow">
            <a:avLst/>
          </a:prstGeom>
          <a:solidFill>
            <a:srgbClr val="3FCB9A"/>
          </a:solidFill>
          <a:ln w="12700">
            <a:solidFill>
              <a:srgbClr val="3FCB9A"/>
            </a:solidFill>
            <a:prstDash val="solid"/>
          </a:ln>
        </p:spPr>
      </p:sp>
      <p:sp>
        <p:nvSpPr>
          <p:cNvPr id="19" name="Shape 16"/>
          <p:cNvSpPr/>
          <p:nvPr/>
        </p:nvSpPr>
        <p:spPr>
          <a:xfrm>
            <a:off x="548640" y="4864608"/>
            <a:ext cx="2103120" cy="502920"/>
          </a:xfrm>
          <a:prstGeom prst="roundRect">
            <a:avLst>
              <a:gd name="adj" fmla="val 14545"/>
            </a:avLst>
          </a:prstGeom>
          <a:solidFill>
            <a:srgbClr val="152827"/>
          </a:solidFill>
          <a:ln w="12700">
            <a:solidFill>
              <a:srgbClr val="2A3D3B"/>
            </a:solidFill>
            <a:prstDash val="solid"/>
          </a:ln>
        </p:spPr>
      </p:sp>
      <p:sp>
        <p:nvSpPr>
          <p:cNvPr id="20" name="Text 17"/>
          <p:cNvSpPr/>
          <p:nvPr/>
        </p:nvSpPr>
        <p:spPr>
          <a:xfrm>
            <a:off x="548640" y="4864608"/>
            <a:ext cx="2103120" cy="502920"/>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Material Ranking</a:t>
            </a:r>
            <a:endParaRPr lang="en-US" sz="1200" dirty="0"/>
          </a:p>
        </p:txBody>
      </p:sp>
      <p:sp>
        <p:nvSpPr>
          <p:cNvPr id="21" name="Shape 18"/>
          <p:cNvSpPr/>
          <p:nvPr/>
        </p:nvSpPr>
        <p:spPr>
          <a:xfrm>
            <a:off x="1508760" y="5394960"/>
            <a:ext cx="182880" cy="201168"/>
          </a:xfrm>
          <a:prstGeom prst="downArrow">
            <a:avLst/>
          </a:prstGeom>
          <a:solidFill>
            <a:srgbClr val="3FCB9A"/>
          </a:solidFill>
          <a:ln w="12700">
            <a:solidFill>
              <a:srgbClr val="3FCB9A"/>
            </a:solidFill>
            <a:prstDash val="solid"/>
          </a:ln>
        </p:spPr>
      </p:sp>
      <p:sp>
        <p:nvSpPr>
          <p:cNvPr id="22" name="Shape 19"/>
          <p:cNvSpPr/>
          <p:nvPr/>
        </p:nvSpPr>
        <p:spPr>
          <a:xfrm>
            <a:off x="548640" y="5623560"/>
            <a:ext cx="2103120" cy="502920"/>
          </a:xfrm>
          <a:prstGeom prst="roundRect">
            <a:avLst>
              <a:gd name="adj" fmla="val 14545"/>
            </a:avLst>
          </a:prstGeom>
          <a:solidFill>
            <a:srgbClr val="152827"/>
          </a:solidFill>
          <a:ln w="12700">
            <a:solidFill>
              <a:srgbClr val="2A3D3B"/>
            </a:solidFill>
            <a:prstDash val="solid"/>
          </a:ln>
        </p:spPr>
      </p:sp>
      <p:sp>
        <p:nvSpPr>
          <p:cNvPr id="23" name="Text 20"/>
          <p:cNvSpPr/>
          <p:nvPr/>
        </p:nvSpPr>
        <p:spPr>
          <a:xfrm>
            <a:off x="548640" y="5623560"/>
            <a:ext cx="2103120" cy="502920"/>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Recommended Structure</a:t>
            </a:r>
            <a:endParaRPr lang="en-US" sz="1200" dirty="0"/>
          </a:p>
        </p:txBody>
      </p:sp>
      <p:sp>
        <p:nvSpPr>
          <p:cNvPr id="24" name="Shape 21"/>
          <p:cNvSpPr/>
          <p:nvPr/>
        </p:nvSpPr>
        <p:spPr>
          <a:xfrm>
            <a:off x="3017520" y="1828800"/>
            <a:ext cx="8595360" cy="1783080"/>
          </a:xfrm>
          <a:prstGeom prst="roundRect">
            <a:avLst>
              <a:gd name="adj" fmla="val 4103"/>
            </a:avLst>
          </a:prstGeom>
          <a:solidFill>
            <a:srgbClr val="12302A"/>
          </a:solidFill>
          <a:ln w="12700">
            <a:solidFill>
              <a:srgbClr val="3FCB9A"/>
            </a:solidFill>
            <a:prstDash val="solid"/>
          </a:ln>
        </p:spPr>
      </p:sp>
      <p:sp>
        <p:nvSpPr>
          <p:cNvPr id="25" name="Text 22"/>
          <p:cNvSpPr/>
          <p:nvPr/>
        </p:nvSpPr>
        <p:spPr>
          <a:xfrm>
            <a:off x="3200400" y="1874520"/>
            <a:ext cx="8229600" cy="411480"/>
          </a:xfrm>
          <a:prstGeom prst="rect">
            <a:avLst/>
          </a:prstGeom>
          <a:noFill/>
          <a:ln/>
        </p:spPr>
        <p:txBody>
          <a:bodyPr wrap="square" rtlCol="0" anchor="ctr"/>
          <a:lstStyle/>
          <a:p>
            <a:pPr algn="ctr" indent="0" marL="0">
              <a:buNone/>
            </a:pPr>
            <a:r>
              <a:rPr lang="en-US" sz="2000" b="1" dirty="0">
                <a:solidFill>
                  <a:srgbClr val="BDEBD6"/>
                </a:solidFill>
                <a:latin typeface="Calibri" pitchFamily="34" charset="0"/>
                <a:ea typeface="Calibri" pitchFamily="34" charset="-122"/>
                <a:cs typeface="Calibri" pitchFamily="34" charset="-120"/>
              </a:rPr>
              <a:t>How the overall packaging score is built</a:t>
            </a:r>
            <a:endParaRPr lang="en-US" sz="2000" dirty="0"/>
          </a:p>
        </p:txBody>
      </p:sp>
      <p:sp>
        <p:nvSpPr>
          <p:cNvPr id="26" name="Text 23"/>
          <p:cNvSpPr/>
          <p:nvPr/>
        </p:nvSpPr>
        <p:spPr>
          <a:xfrm>
            <a:off x="3200400" y="2286000"/>
            <a:ext cx="8229600" cy="685800"/>
          </a:xfrm>
          <a:prstGeom prst="rect">
            <a:avLst/>
          </a:prstGeom>
          <a:noFill/>
          <a:ln/>
        </p:spPr>
        <p:txBody>
          <a:bodyPr wrap="square"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Each candidate material is rated on the criteria below. Criteria that matter more for the specific food are given more importance, and the ratings are combined into one overall score used to rank the materials.</a:t>
            </a:r>
            <a:endParaRPr lang="en-US" sz="1300" dirty="0"/>
          </a:p>
        </p:txBody>
      </p:sp>
      <p:sp>
        <p:nvSpPr>
          <p:cNvPr id="27" name="Text 24"/>
          <p:cNvSpPr/>
          <p:nvPr/>
        </p:nvSpPr>
        <p:spPr>
          <a:xfrm>
            <a:off x="3200400" y="3017520"/>
            <a:ext cx="8229600" cy="457200"/>
          </a:xfrm>
          <a:prstGeom prst="rect">
            <a:avLst/>
          </a:prstGeom>
          <a:noFill/>
          <a:ln/>
        </p:spPr>
        <p:txBody>
          <a:bodyPr wrap="square" rtlCol="0" anchor="ctr"/>
          <a:lstStyle/>
          <a:p>
            <a:pPr algn="ctr" indent="0" marL="0">
              <a:buNone/>
            </a:pPr>
            <a:r>
              <a:rPr lang="en-US" sz="1200" dirty="0">
                <a:solidFill>
                  <a:srgbClr val="3FCB9A"/>
                </a:solidFill>
                <a:latin typeface="Calibri" pitchFamily="34" charset="0"/>
                <a:ea typeface="Calibri" pitchFamily="34" charset="-122"/>
                <a:cs typeface="Calibri" pitchFamily="34" charset="-120"/>
              </a:rPr>
              <a:t>Barrier Suitability · Moisture Protection · Oxygen Protection · Shelf-Life Suitability · Mechanical Strength · Cost · Sustainability · MAP Compatibility</a:t>
            </a:r>
            <a:endParaRPr lang="en-US" sz="1200" dirty="0"/>
          </a:p>
        </p:txBody>
      </p:sp>
      <p:sp>
        <p:nvSpPr>
          <p:cNvPr id="28" name="Shape 25"/>
          <p:cNvSpPr/>
          <p:nvPr/>
        </p:nvSpPr>
        <p:spPr>
          <a:xfrm>
            <a:off x="3017520" y="3794760"/>
            <a:ext cx="2743200" cy="1600200"/>
          </a:xfrm>
          <a:prstGeom prst="roundRect">
            <a:avLst>
              <a:gd name="adj" fmla="val 4571"/>
            </a:avLst>
          </a:prstGeom>
          <a:solidFill>
            <a:srgbClr val="152827"/>
          </a:solidFill>
          <a:ln w="12700">
            <a:solidFill>
              <a:srgbClr val="2A3D3B"/>
            </a:solidFill>
            <a:prstDash val="solid"/>
          </a:ln>
        </p:spPr>
      </p:sp>
      <p:sp>
        <p:nvSpPr>
          <p:cNvPr id="29" name="Text 26"/>
          <p:cNvSpPr/>
          <p:nvPr/>
        </p:nvSpPr>
        <p:spPr>
          <a:xfrm>
            <a:off x="3154680" y="3858768"/>
            <a:ext cx="256032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OXYGEN BARRIER</a:t>
            </a:r>
            <a:endParaRPr lang="en-US" sz="1000" dirty="0"/>
          </a:p>
        </p:txBody>
      </p:sp>
      <p:sp>
        <p:nvSpPr>
          <p:cNvPr id="30" name="Text 27"/>
          <p:cNvSpPr/>
          <p:nvPr/>
        </p:nvSpPr>
        <p:spPr>
          <a:xfrm>
            <a:off x="3154680" y="4114800"/>
            <a:ext cx="2514600" cy="320040"/>
          </a:xfrm>
          <a:prstGeom prst="rect">
            <a:avLst/>
          </a:prstGeom>
          <a:noFill/>
          <a:ln/>
        </p:spPr>
        <p:txBody>
          <a:bodyPr wrap="square" rtlCol="0" anchor="ctr"/>
          <a:lstStyle/>
          <a:p>
            <a:pPr indent="0" marL="0">
              <a:buNone/>
            </a:pPr>
            <a:r>
              <a:rPr lang="en-US" sz="1400" b="1" dirty="0">
                <a:solidFill>
                  <a:srgbClr val="EFF7F3"/>
                </a:solidFill>
                <a:latin typeface="Calibri" pitchFamily="34" charset="0"/>
                <a:ea typeface="Calibri" pitchFamily="34" charset="-122"/>
                <a:cs typeface="Calibri" pitchFamily="34" charset="-120"/>
              </a:rPr>
              <a:t>Oxygen Transmission</a:t>
            </a:r>
            <a:endParaRPr lang="en-US" sz="1400" dirty="0"/>
          </a:p>
        </p:txBody>
      </p:sp>
      <p:sp>
        <p:nvSpPr>
          <p:cNvPr id="31" name="Text 28"/>
          <p:cNvSpPr/>
          <p:nvPr/>
        </p:nvSpPr>
        <p:spPr>
          <a:xfrm>
            <a:off x="3154680" y="4434840"/>
            <a:ext cx="2514600" cy="914400"/>
          </a:xfrm>
          <a:prstGeom prst="rect">
            <a:avLst/>
          </a:prstGeom>
          <a:noFill/>
          <a:ln/>
        </p:spPr>
        <p:txBody>
          <a:bodyPr wrap="square" rtlCol="0" anchor="t"/>
          <a:lstStyle/>
          <a:p>
            <a:pPr indent="0" marL="0">
              <a:buNone/>
            </a:pPr>
            <a:r>
              <a:rPr lang="en-US" sz="1050" dirty="0">
                <a:solidFill>
                  <a:srgbClr val="9AB5AE"/>
                </a:solidFill>
                <a:latin typeface="Calibri" pitchFamily="34" charset="0"/>
                <a:ea typeface="Calibri" pitchFamily="34" charset="-122"/>
                <a:cs typeface="Calibri" pitchFamily="34" charset="-120"/>
              </a:rPr>
              <a:t>Measures how easily oxygen passes through the film. Lower values protect fatty and oxidation-sensitive foods from rancidity.</a:t>
            </a:r>
            <a:endParaRPr lang="en-US" sz="1050" dirty="0"/>
          </a:p>
        </p:txBody>
      </p:sp>
      <p:sp>
        <p:nvSpPr>
          <p:cNvPr id="32" name="Shape 29"/>
          <p:cNvSpPr/>
          <p:nvPr/>
        </p:nvSpPr>
        <p:spPr>
          <a:xfrm>
            <a:off x="5916168" y="3794760"/>
            <a:ext cx="2743200" cy="1600200"/>
          </a:xfrm>
          <a:prstGeom prst="roundRect">
            <a:avLst>
              <a:gd name="adj" fmla="val 4571"/>
            </a:avLst>
          </a:prstGeom>
          <a:solidFill>
            <a:srgbClr val="152827"/>
          </a:solidFill>
          <a:ln w="12700">
            <a:solidFill>
              <a:srgbClr val="2A3D3B"/>
            </a:solidFill>
            <a:prstDash val="solid"/>
          </a:ln>
        </p:spPr>
      </p:sp>
      <p:sp>
        <p:nvSpPr>
          <p:cNvPr id="33" name="Text 30"/>
          <p:cNvSpPr/>
          <p:nvPr/>
        </p:nvSpPr>
        <p:spPr>
          <a:xfrm>
            <a:off x="6053328" y="3858768"/>
            <a:ext cx="256032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MOISTURE BARRIER</a:t>
            </a:r>
            <a:endParaRPr lang="en-US" sz="1000" dirty="0"/>
          </a:p>
        </p:txBody>
      </p:sp>
      <p:sp>
        <p:nvSpPr>
          <p:cNvPr id="34" name="Text 31"/>
          <p:cNvSpPr/>
          <p:nvPr/>
        </p:nvSpPr>
        <p:spPr>
          <a:xfrm>
            <a:off x="6053328" y="4114800"/>
            <a:ext cx="2514600" cy="320040"/>
          </a:xfrm>
          <a:prstGeom prst="rect">
            <a:avLst/>
          </a:prstGeom>
          <a:noFill/>
          <a:ln/>
        </p:spPr>
        <p:txBody>
          <a:bodyPr wrap="square" rtlCol="0" anchor="ctr"/>
          <a:lstStyle/>
          <a:p>
            <a:pPr indent="0" marL="0">
              <a:buNone/>
            </a:pPr>
            <a:r>
              <a:rPr lang="en-US" sz="1400" b="1" dirty="0">
                <a:solidFill>
                  <a:srgbClr val="EFF7F3"/>
                </a:solidFill>
                <a:latin typeface="Calibri" pitchFamily="34" charset="0"/>
                <a:ea typeface="Calibri" pitchFamily="34" charset="-122"/>
                <a:cs typeface="Calibri" pitchFamily="34" charset="-120"/>
              </a:rPr>
              <a:t>Water Vapour Transmission</a:t>
            </a:r>
            <a:endParaRPr lang="en-US" sz="1400" dirty="0"/>
          </a:p>
        </p:txBody>
      </p:sp>
      <p:sp>
        <p:nvSpPr>
          <p:cNvPr id="35" name="Text 32"/>
          <p:cNvSpPr/>
          <p:nvPr/>
        </p:nvSpPr>
        <p:spPr>
          <a:xfrm>
            <a:off x="6053328" y="4434840"/>
            <a:ext cx="2514600" cy="914400"/>
          </a:xfrm>
          <a:prstGeom prst="rect">
            <a:avLst/>
          </a:prstGeom>
          <a:noFill/>
          <a:ln/>
        </p:spPr>
        <p:txBody>
          <a:bodyPr wrap="square" rtlCol="0" anchor="t"/>
          <a:lstStyle/>
          <a:p>
            <a:pPr indent="0" marL="0">
              <a:buNone/>
            </a:pPr>
            <a:r>
              <a:rPr lang="en-US" sz="1050" dirty="0">
                <a:solidFill>
                  <a:srgbClr val="9AB5AE"/>
                </a:solidFill>
                <a:latin typeface="Calibri" pitchFamily="34" charset="0"/>
                <a:ea typeface="Calibri" pitchFamily="34" charset="-122"/>
                <a:cs typeface="Calibri" pitchFamily="34" charset="-120"/>
              </a:rPr>
              <a:t>Measures how much moisture crosses the film. Dry snacks need tight barriers to stay crisp; moist foods need them to avoid drying out.</a:t>
            </a:r>
            <a:endParaRPr lang="en-US" sz="1050" dirty="0"/>
          </a:p>
        </p:txBody>
      </p:sp>
      <p:sp>
        <p:nvSpPr>
          <p:cNvPr id="36" name="Shape 33"/>
          <p:cNvSpPr/>
          <p:nvPr/>
        </p:nvSpPr>
        <p:spPr>
          <a:xfrm>
            <a:off x="8814816" y="3794760"/>
            <a:ext cx="2743200" cy="1600200"/>
          </a:xfrm>
          <a:prstGeom prst="roundRect">
            <a:avLst>
              <a:gd name="adj" fmla="val 4571"/>
            </a:avLst>
          </a:prstGeom>
          <a:solidFill>
            <a:srgbClr val="152827"/>
          </a:solidFill>
          <a:ln w="12700">
            <a:solidFill>
              <a:srgbClr val="2A3D3B"/>
            </a:solidFill>
            <a:prstDash val="solid"/>
          </a:ln>
        </p:spPr>
      </p:sp>
      <p:sp>
        <p:nvSpPr>
          <p:cNvPr id="37" name="Text 34"/>
          <p:cNvSpPr/>
          <p:nvPr/>
        </p:nvSpPr>
        <p:spPr>
          <a:xfrm>
            <a:off x="8951976" y="3858768"/>
            <a:ext cx="256032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FRESH PRODUCE</a:t>
            </a:r>
            <a:endParaRPr lang="en-US" sz="1000" dirty="0"/>
          </a:p>
        </p:txBody>
      </p:sp>
      <p:sp>
        <p:nvSpPr>
          <p:cNvPr id="38" name="Text 35"/>
          <p:cNvSpPr/>
          <p:nvPr/>
        </p:nvSpPr>
        <p:spPr>
          <a:xfrm>
            <a:off x="8951976" y="4114800"/>
            <a:ext cx="2514600" cy="320040"/>
          </a:xfrm>
          <a:prstGeom prst="rect">
            <a:avLst/>
          </a:prstGeom>
          <a:noFill/>
          <a:ln/>
        </p:spPr>
        <p:txBody>
          <a:bodyPr wrap="square" rtlCol="0" anchor="ctr"/>
          <a:lstStyle/>
          <a:p>
            <a:pPr indent="0" marL="0">
              <a:buNone/>
            </a:pPr>
            <a:r>
              <a:rPr lang="en-US" sz="1400" b="1" dirty="0">
                <a:solidFill>
                  <a:srgbClr val="EFF7F3"/>
                </a:solidFill>
                <a:latin typeface="Calibri" pitchFamily="34" charset="0"/>
                <a:ea typeface="Calibri" pitchFamily="34" charset="-122"/>
                <a:cs typeface="Calibri" pitchFamily="34" charset="-120"/>
              </a:rPr>
              <a:t>Respiration &amp; Gas Exchange</a:t>
            </a:r>
            <a:endParaRPr lang="en-US" sz="1400" dirty="0"/>
          </a:p>
        </p:txBody>
      </p:sp>
      <p:sp>
        <p:nvSpPr>
          <p:cNvPr id="39" name="Text 36"/>
          <p:cNvSpPr/>
          <p:nvPr/>
        </p:nvSpPr>
        <p:spPr>
          <a:xfrm>
            <a:off x="8951976" y="4434840"/>
            <a:ext cx="2514600" cy="914400"/>
          </a:xfrm>
          <a:prstGeom prst="rect">
            <a:avLst/>
          </a:prstGeom>
          <a:noFill/>
          <a:ln/>
        </p:spPr>
        <p:txBody>
          <a:bodyPr wrap="square" rtlCol="0" anchor="t"/>
          <a:lstStyle/>
          <a:p>
            <a:pPr indent="0" marL="0">
              <a:buNone/>
            </a:pPr>
            <a:r>
              <a:rPr lang="en-US" sz="1050" dirty="0">
                <a:solidFill>
                  <a:srgbClr val="9AB5AE"/>
                </a:solidFill>
                <a:latin typeface="Calibri" pitchFamily="34" charset="0"/>
                <a:ea typeface="Calibri" pitchFamily="34" charset="-122"/>
                <a:cs typeface="Calibri" pitchFamily="34" charset="-120"/>
              </a:rPr>
              <a:t>Fruits and vegetables keep breathing after harvest, faster when warm. Films must let gases exchange so produce does not suffocate.</a:t>
            </a:r>
            <a:endParaRPr lang="en-US" sz="1050" dirty="0"/>
          </a:p>
        </p:txBody>
      </p:sp>
      <p:sp>
        <p:nvSpPr>
          <p:cNvPr id="40" name="Shape 37"/>
          <p:cNvSpPr/>
          <p:nvPr/>
        </p:nvSpPr>
        <p:spPr>
          <a:xfrm>
            <a:off x="3017520" y="5577840"/>
            <a:ext cx="2743200" cy="502920"/>
          </a:xfrm>
          <a:prstGeom prst="roundRect">
            <a:avLst>
              <a:gd name="adj" fmla="val 14545"/>
            </a:avLst>
          </a:prstGeom>
          <a:solidFill>
            <a:srgbClr val="2A2716"/>
          </a:solidFill>
          <a:ln w="12700">
            <a:solidFill>
              <a:srgbClr val="F0B24A"/>
            </a:solidFill>
            <a:prstDash val="solid"/>
          </a:ln>
        </p:spPr>
      </p:sp>
      <p:sp>
        <p:nvSpPr>
          <p:cNvPr id="41" name="Text 38"/>
          <p:cNvSpPr/>
          <p:nvPr/>
        </p:nvSpPr>
        <p:spPr>
          <a:xfrm>
            <a:off x="3017520" y="5577840"/>
            <a:ext cx="2743200" cy="50292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High respiration → avoid excessive gas restriction</a:t>
            </a:r>
            <a:endParaRPr lang="en-US" sz="1100" dirty="0"/>
          </a:p>
        </p:txBody>
      </p:sp>
      <p:sp>
        <p:nvSpPr>
          <p:cNvPr id="42" name="Shape 39"/>
          <p:cNvSpPr/>
          <p:nvPr/>
        </p:nvSpPr>
        <p:spPr>
          <a:xfrm>
            <a:off x="5916168" y="5577840"/>
            <a:ext cx="2743200" cy="502920"/>
          </a:xfrm>
          <a:prstGeom prst="roundRect">
            <a:avLst>
              <a:gd name="adj" fmla="val 14545"/>
            </a:avLst>
          </a:prstGeom>
          <a:solidFill>
            <a:srgbClr val="2A2716"/>
          </a:solidFill>
          <a:ln w="12700">
            <a:solidFill>
              <a:srgbClr val="F0B24A"/>
            </a:solidFill>
            <a:prstDash val="solid"/>
          </a:ln>
        </p:spPr>
      </p:sp>
      <p:sp>
        <p:nvSpPr>
          <p:cNvPr id="43" name="Text 40"/>
          <p:cNvSpPr/>
          <p:nvPr/>
        </p:nvSpPr>
        <p:spPr>
          <a:xfrm>
            <a:off x="5916168" y="5577840"/>
            <a:ext cx="2743200" cy="50292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High-fat food → stronger oxygen barrier required</a:t>
            </a:r>
            <a:endParaRPr lang="en-US" sz="1100" dirty="0"/>
          </a:p>
        </p:txBody>
      </p:sp>
      <p:sp>
        <p:nvSpPr>
          <p:cNvPr id="44" name="Shape 41"/>
          <p:cNvSpPr/>
          <p:nvPr/>
        </p:nvSpPr>
        <p:spPr>
          <a:xfrm>
            <a:off x="8814816" y="5577840"/>
            <a:ext cx="2743200" cy="502920"/>
          </a:xfrm>
          <a:prstGeom prst="roundRect">
            <a:avLst>
              <a:gd name="adj" fmla="val 14545"/>
            </a:avLst>
          </a:prstGeom>
          <a:solidFill>
            <a:srgbClr val="2A2716"/>
          </a:solidFill>
          <a:ln w="12700">
            <a:solidFill>
              <a:srgbClr val="F0B24A"/>
            </a:solidFill>
            <a:prstDash val="solid"/>
          </a:ln>
        </p:spPr>
      </p:sp>
      <p:sp>
        <p:nvSpPr>
          <p:cNvPr id="45" name="Text 42"/>
          <p:cNvSpPr/>
          <p:nvPr/>
        </p:nvSpPr>
        <p:spPr>
          <a:xfrm>
            <a:off x="8814816" y="5577840"/>
            <a:ext cx="2743200" cy="502920"/>
          </a:xfrm>
          <a:prstGeom prst="rect">
            <a:avLst/>
          </a:prstGeom>
          <a:noFill/>
          <a:ln/>
        </p:spPr>
        <p:txBody>
          <a:bodyPr wrap="square" lIns="50800" tIns="50800" rIns="50800" bIns="50800" rtlCol="0" anchor="ctr"/>
          <a:lstStyle/>
          <a:p>
            <a:pPr algn="ctr" indent="0" marL="0">
              <a:buNone/>
            </a:pPr>
            <a:r>
              <a:rPr lang="en-US" sz="1100" dirty="0">
                <a:solidFill>
                  <a:srgbClr val="F0B24A"/>
                </a:solidFill>
                <a:latin typeface="Calibri" pitchFamily="34" charset="0"/>
                <a:ea typeface="Calibri" pitchFamily="34" charset="-122"/>
                <a:cs typeface="Calibri" pitchFamily="34" charset="-120"/>
              </a:rPr>
              <a:t>High moisture → stronger moisture barrier required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05 · RAG KNOWLEDGE ENGINE</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Grounded AI with RAG</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From generic LLM answers to evidence-aware packaging explanations</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Shape 4"/>
          <p:cNvSpPr/>
          <p:nvPr/>
        </p:nvSpPr>
        <p:spPr>
          <a:xfrm>
            <a:off x="548640" y="1828800"/>
            <a:ext cx="1325880" cy="1005840"/>
          </a:xfrm>
          <a:prstGeom prst="roundRect">
            <a:avLst>
              <a:gd name="adj" fmla="val 7273"/>
            </a:avLst>
          </a:prstGeom>
          <a:solidFill>
            <a:srgbClr val="152827"/>
          </a:solidFill>
          <a:ln w="12700">
            <a:solidFill>
              <a:srgbClr val="2A3D3B"/>
            </a:solidFill>
            <a:prstDash val="solid"/>
          </a:ln>
        </p:spPr>
      </p:sp>
      <p:sp>
        <p:nvSpPr>
          <p:cNvPr id="8" name="Text 5"/>
          <p:cNvSpPr/>
          <p:nvPr/>
        </p:nvSpPr>
        <p:spPr>
          <a:xfrm>
            <a:off x="5486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Scientific Documents</a:t>
            </a:r>
            <a:endParaRPr lang="en-US" sz="1100" dirty="0"/>
          </a:p>
        </p:txBody>
      </p:sp>
      <p:sp>
        <p:nvSpPr>
          <p:cNvPr id="9" name="Shape 6"/>
          <p:cNvSpPr/>
          <p:nvPr/>
        </p:nvSpPr>
        <p:spPr>
          <a:xfrm>
            <a:off x="1892808" y="2240280"/>
            <a:ext cx="237744" cy="182880"/>
          </a:xfrm>
          <a:prstGeom prst="rightArrow">
            <a:avLst/>
          </a:prstGeom>
          <a:solidFill>
            <a:srgbClr val="3FCB9A"/>
          </a:solidFill>
          <a:ln w="12700">
            <a:solidFill>
              <a:srgbClr val="3FCB9A"/>
            </a:solidFill>
            <a:prstDash val="solid"/>
          </a:ln>
        </p:spPr>
      </p:sp>
      <p:sp>
        <p:nvSpPr>
          <p:cNvPr id="10" name="Shape 7"/>
          <p:cNvSpPr/>
          <p:nvPr/>
        </p:nvSpPr>
        <p:spPr>
          <a:xfrm>
            <a:off x="2148840" y="1828800"/>
            <a:ext cx="1325880" cy="1005840"/>
          </a:xfrm>
          <a:prstGeom prst="roundRect">
            <a:avLst>
              <a:gd name="adj" fmla="val 7273"/>
            </a:avLst>
          </a:prstGeom>
          <a:solidFill>
            <a:srgbClr val="152827"/>
          </a:solidFill>
          <a:ln w="12700">
            <a:solidFill>
              <a:srgbClr val="2A3D3B"/>
            </a:solidFill>
            <a:prstDash val="solid"/>
          </a:ln>
        </p:spPr>
      </p:sp>
      <p:sp>
        <p:nvSpPr>
          <p:cNvPr id="11" name="Text 8"/>
          <p:cNvSpPr/>
          <p:nvPr/>
        </p:nvSpPr>
        <p:spPr>
          <a:xfrm>
            <a:off x="21488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Processing &amp; Chunking</a:t>
            </a:r>
            <a:endParaRPr lang="en-US" sz="1100" dirty="0"/>
          </a:p>
        </p:txBody>
      </p:sp>
      <p:sp>
        <p:nvSpPr>
          <p:cNvPr id="12" name="Shape 9"/>
          <p:cNvSpPr/>
          <p:nvPr/>
        </p:nvSpPr>
        <p:spPr>
          <a:xfrm>
            <a:off x="3493008" y="2240280"/>
            <a:ext cx="237744" cy="182880"/>
          </a:xfrm>
          <a:prstGeom prst="rightArrow">
            <a:avLst/>
          </a:prstGeom>
          <a:solidFill>
            <a:srgbClr val="3FCB9A"/>
          </a:solidFill>
          <a:ln w="12700">
            <a:solidFill>
              <a:srgbClr val="3FCB9A"/>
            </a:solidFill>
            <a:prstDash val="solid"/>
          </a:ln>
        </p:spPr>
      </p:sp>
      <p:sp>
        <p:nvSpPr>
          <p:cNvPr id="13" name="Shape 10"/>
          <p:cNvSpPr/>
          <p:nvPr/>
        </p:nvSpPr>
        <p:spPr>
          <a:xfrm>
            <a:off x="3749040" y="1828800"/>
            <a:ext cx="1325880" cy="1005840"/>
          </a:xfrm>
          <a:prstGeom prst="roundRect">
            <a:avLst>
              <a:gd name="adj" fmla="val 7273"/>
            </a:avLst>
          </a:prstGeom>
          <a:solidFill>
            <a:srgbClr val="152827"/>
          </a:solidFill>
          <a:ln w="12700">
            <a:solidFill>
              <a:srgbClr val="2A3D3B"/>
            </a:solidFill>
            <a:prstDash val="solid"/>
          </a:ln>
        </p:spPr>
      </p:sp>
      <p:sp>
        <p:nvSpPr>
          <p:cNvPr id="14" name="Text 11"/>
          <p:cNvSpPr/>
          <p:nvPr/>
        </p:nvSpPr>
        <p:spPr>
          <a:xfrm>
            <a:off x="37490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384-D Embeddings</a:t>
            </a:r>
            <a:endParaRPr lang="en-US" sz="1100" dirty="0"/>
          </a:p>
          <a:p>
            <a:pPr algn="ctr" indent="0" marL="0">
              <a:buNone/>
            </a:pPr>
            <a:r>
              <a:rPr lang="en-US" sz="1100" b="1" dirty="0">
                <a:solidFill>
                  <a:srgbClr val="EFF7F3"/>
                </a:solidFill>
                <a:latin typeface="Calibri" pitchFamily="34" charset="0"/>
                <a:ea typeface="Calibri" pitchFamily="34" charset="-122"/>
                <a:cs typeface="Calibri" pitchFamily="34" charset="-120"/>
              </a:rPr>
              <a:t>FastEmbed / ONNX</a:t>
            </a:r>
            <a:endParaRPr lang="en-US" sz="1100" dirty="0"/>
          </a:p>
        </p:txBody>
      </p:sp>
      <p:sp>
        <p:nvSpPr>
          <p:cNvPr id="15" name="Shape 12"/>
          <p:cNvSpPr/>
          <p:nvPr/>
        </p:nvSpPr>
        <p:spPr>
          <a:xfrm>
            <a:off x="5093208" y="2240280"/>
            <a:ext cx="237744" cy="182880"/>
          </a:xfrm>
          <a:prstGeom prst="rightArrow">
            <a:avLst/>
          </a:prstGeom>
          <a:solidFill>
            <a:srgbClr val="3FCB9A"/>
          </a:solidFill>
          <a:ln w="12700">
            <a:solidFill>
              <a:srgbClr val="3FCB9A"/>
            </a:solidFill>
            <a:prstDash val="solid"/>
          </a:ln>
        </p:spPr>
      </p:sp>
      <p:sp>
        <p:nvSpPr>
          <p:cNvPr id="16" name="Shape 13"/>
          <p:cNvSpPr/>
          <p:nvPr/>
        </p:nvSpPr>
        <p:spPr>
          <a:xfrm>
            <a:off x="5349240" y="1828800"/>
            <a:ext cx="1325880" cy="1005840"/>
          </a:xfrm>
          <a:prstGeom prst="roundRect">
            <a:avLst>
              <a:gd name="adj" fmla="val 7273"/>
            </a:avLst>
          </a:prstGeom>
          <a:solidFill>
            <a:srgbClr val="17392F"/>
          </a:solidFill>
          <a:ln w="12700">
            <a:solidFill>
              <a:srgbClr val="3FCB9A"/>
            </a:solidFill>
            <a:prstDash val="solid"/>
          </a:ln>
        </p:spPr>
      </p:sp>
      <p:sp>
        <p:nvSpPr>
          <p:cNvPr id="17" name="Text 14"/>
          <p:cNvSpPr/>
          <p:nvPr/>
        </p:nvSpPr>
        <p:spPr>
          <a:xfrm>
            <a:off x="53492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Qdrant Cloud</a:t>
            </a:r>
            <a:endParaRPr lang="en-US" sz="1100" dirty="0"/>
          </a:p>
          <a:p>
            <a:pPr algn="ctr" indent="0" marL="0">
              <a:buNone/>
            </a:pPr>
            <a:r>
              <a:rPr lang="en-US" sz="1100" b="1" dirty="0">
                <a:solidFill>
                  <a:srgbClr val="EFF7F3"/>
                </a:solidFill>
                <a:latin typeface="Calibri" pitchFamily="34" charset="0"/>
                <a:ea typeface="Calibri" pitchFamily="34" charset="-122"/>
                <a:cs typeface="Calibri" pitchFamily="34" charset="-120"/>
              </a:rPr>
              <a:t>Vector search</a:t>
            </a:r>
            <a:endParaRPr lang="en-US" sz="1100" dirty="0"/>
          </a:p>
        </p:txBody>
      </p:sp>
      <p:sp>
        <p:nvSpPr>
          <p:cNvPr id="18" name="Shape 15"/>
          <p:cNvSpPr/>
          <p:nvPr/>
        </p:nvSpPr>
        <p:spPr>
          <a:xfrm>
            <a:off x="6693408" y="2240280"/>
            <a:ext cx="237744" cy="182880"/>
          </a:xfrm>
          <a:prstGeom prst="rightArrow">
            <a:avLst/>
          </a:prstGeom>
          <a:solidFill>
            <a:srgbClr val="3FCB9A"/>
          </a:solidFill>
          <a:ln w="12700">
            <a:solidFill>
              <a:srgbClr val="3FCB9A"/>
            </a:solidFill>
            <a:prstDash val="solid"/>
          </a:ln>
        </p:spPr>
      </p:sp>
      <p:sp>
        <p:nvSpPr>
          <p:cNvPr id="19" name="Shape 16"/>
          <p:cNvSpPr/>
          <p:nvPr/>
        </p:nvSpPr>
        <p:spPr>
          <a:xfrm>
            <a:off x="6949440" y="1828800"/>
            <a:ext cx="1325880" cy="1005840"/>
          </a:xfrm>
          <a:prstGeom prst="roundRect">
            <a:avLst>
              <a:gd name="adj" fmla="val 7273"/>
            </a:avLst>
          </a:prstGeom>
          <a:solidFill>
            <a:srgbClr val="152827"/>
          </a:solidFill>
          <a:ln w="12700">
            <a:solidFill>
              <a:srgbClr val="2A3D3B"/>
            </a:solidFill>
            <a:prstDash val="solid"/>
          </a:ln>
        </p:spPr>
      </p:sp>
      <p:sp>
        <p:nvSpPr>
          <p:cNvPr id="20" name="Text 17"/>
          <p:cNvSpPr/>
          <p:nvPr/>
        </p:nvSpPr>
        <p:spPr>
          <a:xfrm>
            <a:off x="69494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Relevant Evidence</a:t>
            </a:r>
            <a:endParaRPr lang="en-US" sz="1100" dirty="0"/>
          </a:p>
        </p:txBody>
      </p:sp>
      <p:sp>
        <p:nvSpPr>
          <p:cNvPr id="21" name="Shape 18"/>
          <p:cNvSpPr/>
          <p:nvPr/>
        </p:nvSpPr>
        <p:spPr>
          <a:xfrm>
            <a:off x="8293608" y="2240280"/>
            <a:ext cx="237744" cy="182880"/>
          </a:xfrm>
          <a:prstGeom prst="rightArrow">
            <a:avLst/>
          </a:prstGeom>
          <a:solidFill>
            <a:srgbClr val="3FCB9A"/>
          </a:solidFill>
          <a:ln w="12700">
            <a:solidFill>
              <a:srgbClr val="3FCB9A"/>
            </a:solidFill>
            <a:prstDash val="solid"/>
          </a:ln>
        </p:spPr>
      </p:sp>
      <p:sp>
        <p:nvSpPr>
          <p:cNvPr id="22" name="Shape 19"/>
          <p:cNvSpPr/>
          <p:nvPr/>
        </p:nvSpPr>
        <p:spPr>
          <a:xfrm>
            <a:off x="8549640" y="1828800"/>
            <a:ext cx="1325880" cy="1005840"/>
          </a:xfrm>
          <a:prstGeom prst="roundRect">
            <a:avLst>
              <a:gd name="adj" fmla="val 7273"/>
            </a:avLst>
          </a:prstGeom>
          <a:solidFill>
            <a:srgbClr val="152827"/>
          </a:solidFill>
          <a:ln w="12700">
            <a:solidFill>
              <a:srgbClr val="2A3D3B"/>
            </a:solidFill>
            <a:prstDash val="solid"/>
          </a:ln>
        </p:spPr>
      </p:sp>
      <p:sp>
        <p:nvSpPr>
          <p:cNvPr id="23" name="Text 20"/>
          <p:cNvSpPr/>
          <p:nvPr/>
        </p:nvSpPr>
        <p:spPr>
          <a:xfrm>
            <a:off x="85496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Groq LLM</a:t>
            </a:r>
            <a:endParaRPr lang="en-US" sz="1100" dirty="0"/>
          </a:p>
        </p:txBody>
      </p:sp>
      <p:sp>
        <p:nvSpPr>
          <p:cNvPr id="24" name="Shape 21"/>
          <p:cNvSpPr/>
          <p:nvPr/>
        </p:nvSpPr>
        <p:spPr>
          <a:xfrm>
            <a:off x="9893808" y="2240280"/>
            <a:ext cx="237744" cy="182880"/>
          </a:xfrm>
          <a:prstGeom prst="rightArrow">
            <a:avLst/>
          </a:prstGeom>
          <a:solidFill>
            <a:srgbClr val="3FCB9A"/>
          </a:solidFill>
          <a:ln w="12700">
            <a:solidFill>
              <a:srgbClr val="3FCB9A"/>
            </a:solidFill>
            <a:prstDash val="solid"/>
          </a:ln>
        </p:spPr>
      </p:sp>
      <p:sp>
        <p:nvSpPr>
          <p:cNvPr id="25" name="Shape 22"/>
          <p:cNvSpPr/>
          <p:nvPr/>
        </p:nvSpPr>
        <p:spPr>
          <a:xfrm>
            <a:off x="10149840" y="1828800"/>
            <a:ext cx="1325880" cy="1005840"/>
          </a:xfrm>
          <a:prstGeom prst="roundRect">
            <a:avLst>
              <a:gd name="adj" fmla="val 7273"/>
            </a:avLst>
          </a:prstGeom>
          <a:solidFill>
            <a:srgbClr val="17392F"/>
          </a:solidFill>
          <a:ln w="12700">
            <a:solidFill>
              <a:srgbClr val="3FCB9A"/>
            </a:solidFill>
            <a:prstDash val="solid"/>
          </a:ln>
        </p:spPr>
      </p:sp>
      <p:sp>
        <p:nvSpPr>
          <p:cNvPr id="26" name="Text 23"/>
          <p:cNvSpPr/>
          <p:nvPr/>
        </p:nvSpPr>
        <p:spPr>
          <a:xfrm>
            <a:off x="10149840" y="1828800"/>
            <a:ext cx="1325880" cy="1005840"/>
          </a:xfrm>
          <a:prstGeom prst="rect">
            <a:avLst/>
          </a:prstGeom>
          <a:noFill/>
          <a:ln/>
        </p:spPr>
        <p:txBody>
          <a:bodyPr wrap="square" lIns="50800" tIns="50800" rIns="50800" bIns="50800" rtlCol="0" anchor="ctr"/>
          <a:lstStyle/>
          <a:p>
            <a:pPr algn="ctr" indent="0" marL="0">
              <a:buNone/>
            </a:pPr>
            <a:r>
              <a:rPr lang="en-US" sz="1100" b="1" dirty="0">
                <a:solidFill>
                  <a:srgbClr val="EFF7F3"/>
                </a:solidFill>
                <a:latin typeface="Calibri" pitchFamily="34" charset="0"/>
                <a:ea typeface="Calibri" pitchFamily="34" charset="-122"/>
                <a:cs typeface="Calibri" pitchFamily="34" charset="-120"/>
              </a:rPr>
              <a:t>Grounded Explanation</a:t>
            </a:r>
            <a:endParaRPr lang="en-US" sz="1100" dirty="0"/>
          </a:p>
          <a:p>
            <a:pPr algn="ctr" indent="0" marL="0">
              <a:buNone/>
            </a:pPr>
            <a:r>
              <a:rPr lang="en-US" sz="1100" b="1" dirty="0">
                <a:solidFill>
                  <a:srgbClr val="EFF7F3"/>
                </a:solidFill>
                <a:latin typeface="Calibri" pitchFamily="34" charset="0"/>
                <a:ea typeface="Calibri" pitchFamily="34" charset="-122"/>
                <a:cs typeface="Calibri" pitchFamily="34" charset="-120"/>
              </a:rPr>
              <a:t>+ source references</a:t>
            </a:r>
            <a:endParaRPr lang="en-US" sz="1100" dirty="0"/>
          </a:p>
        </p:txBody>
      </p:sp>
      <p:sp>
        <p:nvSpPr>
          <p:cNvPr id="27" name="Text 24"/>
          <p:cNvSpPr/>
          <p:nvPr/>
        </p:nvSpPr>
        <p:spPr>
          <a:xfrm>
            <a:off x="548640" y="3200400"/>
            <a:ext cx="36576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KNOWLEDGE SOURCES</a:t>
            </a:r>
            <a:endParaRPr lang="en-US" sz="1000" dirty="0"/>
          </a:p>
        </p:txBody>
      </p:sp>
      <p:sp>
        <p:nvSpPr>
          <p:cNvPr id="28" name="Shape 25"/>
          <p:cNvSpPr/>
          <p:nvPr/>
        </p:nvSpPr>
        <p:spPr>
          <a:xfrm>
            <a:off x="548640" y="3566160"/>
            <a:ext cx="3474720" cy="438912"/>
          </a:xfrm>
          <a:prstGeom prst="roundRect">
            <a:avLst>
              <a:gd name="adj" fmla="val 16667"/>
            </a:avLst>
          </a:prstGeom>
          <a:solidFill>
            <a:srgbClr val="152827"/>
          </a:solidFill>
          <a:ln w="12700">
            <a:solidFill>
              <a:srgbClr val="2A3D3B"/>
            </a:solidFill>
            <a:prstDash val="solid"/>
          </a:ln>
        </p:spPr>
      </p:sp>
      <p:sp>
        <p:nvSpPr>
          <p:cNvPr id="29" name="Text 26"/>
          <p:cNvSpPr/>
          <p:nvPr/>
        </p:nvSpPr>
        <p:spPr>
          <a:xfrm>
            <a:off x="548640" y="3566160"/>
            <a:ext cx="3474720" cy="438912"/>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Packaging standards</a:t>
            </a:r>
            <a:endParaRPr lang="en-US" sz="1200" dirty="0"/>
          </a:p>
        </p:txBody>
      </p:sp>
      <p:sp>
        <p:nvSpPr>
          <p:cNvPr id="30" name="Shape 27"/>
          <p:cNvSpPr/>
          <p:nvPr/>
        </p:nvSpPr>
        <p:spPr>
          <a:xfrm>
            <a:off x="548640" y="4096512"/>
            <a:ext cx="3474720" cy="438912"/>
          </a:xfrm>
          <a:prstGeom prst="roundRect">
            <a:avLst>
              <a:gd name="adj" fmla="val 16667"/>
            </a:avLst>
          </a:prstGeom>
          <a:solidFill>
            <a:srgbClr val="152827"/>
          </a:solidFill>
          <a:ln w="12700">
            <a:solidFill>
              <a:srgbClr val="2A3D3B"/>
            </a:solidFill>
            <a:prstDash val="solid"/>
          </a:ln>
        </p:spPr>
      </p:sp>
      <p:sp>
        <p:nvSpPr>
          <p:cNvPr id="31" name="Text 28"/>
          <p:cNvSpPr/>
          <p:nvPr/>
        </p:nvSpPr>
        <p:spPr>
          <a:xfrm>
            <a:off x="548640" y="4096512"/>
            <a:ext cx="3474720" cy="438912"/>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Food packaging literature</a:t>
            </a:r>
            <a:endParaRPr lang="en-US" sz="1200" dirty="0"/>
          </a:p>
        </p:txBody>
      </p:sp>
      <p:sp>
        <p:nvSpPr>
          <p:cNvPr id="32" name="Shape 29"/>
          <p:cNvSpPr/>
          <p:nvPr/>
        </p:nvSpPr>
        <p:spPr>
          <a:xfrm>
            <a:off x="548640" y="4626864"/>
            <a:ext cx="3474720" cy="438912"/>
          </a:xfrm>
          <a:prstGeom prst="roundRect">
            <a:avLst>
              <a:gd name="adj" fmla="val 16667"/>
            </a:avLst>
          </a:prstGeom>
          <a:solidFill>
            <a:srgbClr val="152827"/>
          </a:solidFill>
          <a:ln w="12700">
            <a:solidFill>
              <a:srgbClr val="2A3D3B"/>
            </a:solidFill>
            <a:prstDash val="solid"/>
          </a:ln>
        </p:spPr>
      </p:sp>
      <p:sp>
        <p:nvSpPr>
          <p:cNvPr id="33" name="Text 30"/>
          <p:cNvSpPr/>
          <p:nvPr/>
        </p:nvSpPr>
        <p:spPr>
          <a:xfrm>
            <a:off x="548640" y="4626864"/>
            <a:ext cx="3474720" cy="438912"/>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Postharvest research</a:t>
            </a:r>
            <a:endParaRPr lang="en-US" sz="1200" dirty="0"/>
          </a:p>
        </p:txBody>
      </p:sp>
      <p:sp>
        <p:nvSpPr>
          <p:cNvPr id="34" name="Shape 31"/>
          <p:cNvSpPr/>
          <p:nvPr/>
        </p:nvSpPr>
        <p:spPr>
          <a:xfrm>
            <a:off x="548640" y="5157216"/>
            <a:ext cx="3474720" cy="438912"/>
          </a:xfrm>
          <a:prstGeom prst="roundRect">
            <a:avLst>
              <a:gd name="adj" fmla="val 16667"/>
            </a:avLst>
          </a:prstGeom>
          <a:solidFill>
            <a:srgbClr val="152827"/>
          </a:solidFill>
          <a:ln w="12700">
            <a:solidFill>
              <a:srgbClr val="2A3D3B"/>
            </a:solidFill>
            <a:prstDash val="solid"/>
          </a:ln>
        </p:spPr>
      </p:sp>
      <p:sp>
        <p:nvSpPr>
          <p:cNvPr id="35" name="Text 32"/>
          <p:cNvSpPr/>
          <p:nvPr/>
        </p:nvSpPr>
        <p:spPr>
          <a:xfrm>
            <a:off x="548640" y="5157216"/>
            <a:ext cx="3474720" cy="438912"/>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Material technical information</a:t>
            </a:r>
            <a:endParaRPr lang="en-US" sz="1200" dirty="0"/>
          </a:p>
        </p:txBody>
      </p:sp>
      <p:sp>
        <p:nvSpPr>
          <p:cNvPr id="36" name="Shape 33"/>
          <p:cNvSpPr/>
          <p:nvPr/>
        </p:nvSpPr>
        <p:spPr>
          <a:xfrm>
            <a:off x="548640" y="5687568"/>
            <a:ext cx="3474720" cy="438912"/>
          </a:xfrm>
          <a:prstGeom prst="roundRect">
            <a:avLst>
              <a:gd name="adj" fmla="val 16667"/>
            </a:avLst>
          </a:prstGeom>
          <a:solidFill>
            <a:srgbClr val="152827"/>
          </a:solidFill>
          <a:ln w="12700">
            <a:solidFill>
              <a:srgbClr val="2A3D3B"/>
            </a:solidFill>
            <a:prstDash val="solid"/>
          </a:ln>
        </p:spPr>
      </p:sp>
      <p:sp>
        <p:nvSpPr>
          <p:cNvPr id="37" name="Text 34"/>
          <p:cNvSpPr/>
          <p:nvPr/>
        </p:nvSpPr>
        <p:spPr>
          <a:xfrm>
            <a:off x="548640" y="5687568"/>
            <a:ext cx="3474720" cy="438912"/>
          </a:xfrm>
          <a:prstGeom prst="rect">
            <a:avLst/>
          </a:prstGeom>
          <a:noFill/>
          <a:ln/>
        </p:spPr>
        <p:txBody>
          <a:bodyPr wrap="square" lIns="50800" tIns="50800" rIns="50800" bIns="50800" rtlCol="0" anchor="ctr"/>
          <a:lstStyle/>
          <a:p>
            <a:pPr algn="ctr" indent="0" marL="0">
              <a:buNone/>
            </a:pPr>
            <a:r>
              <a:rPr lang="en-US" sz="1200" dirty="0">
                <a:solidFill>
                  <a:srgbClr val="EFF7F3"/>
                </a:solidFill>
                <a:latin typeface="Calibri" pitchFamily="34" charset="0"/>
                <a:ea typeface="Calibri" pitchFamily="34" charset="-122"/>
                <a:cs typeface="Calibri" pitchFamily="34" charset="-120"/>
              </a:rPr>
              <a:t>Approved internal knowledge base</a:t>
            </a:r>
            <a:endParaRPr lang="en-US" sz="1200" dirty="0"/>
          </a:p>
        </p:txBody>
      </p:sp>
      <p:sp>
        <p:nvSpPr>
          <p:cNvPr id="38" name="Text 35"/>
          <p:cNvSpPr/>
          <p:nvPr/>
        </p:nvSpPr>
        <p:spPr>
          <a:xfrm>
            <a:off x="4389120" y="3200400"/>
            <a:ext cx="36576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KEY ADVANTAGES</a:t>
            </a:r>
            <a:endParaRPr lang="en-US" sz="1000" dirty="0"/>
          </a:p>
        </p:txBody>
      </p:sp>
      <p:sp>
        <p:nvSpPr>
          <p:cNvPr id="39" name="Text 36"/>
          <p:cNvSpPr/>
          <p:nvPr/>
        </p:nvSpPr>
        <p:spPr>
          <a:xfrm>
            <a:off x="4389120" y="3566160"/>
            <a:ext cx="3474720" cy="2651760"/>
          </a:xfrm>
          <a:prstGeom prst="rect">
            <a:avLst/>
          </a:prstGeom>
          <a:noFill/>
          <a:ln/>
        </p:spPr>
        <p:txBody>
          <a:bodyPr wrap="square" rtlCol="0" anchor="t"/>
          <a:lstStyle/>
          <a:p>
            <a:pPr marL="342900" indent="-342900">
              <a:spcAft>
                <a:spcPts val="800"/>
              </a:spcAft>
              <a:buSzPct val="100000"/>
              <a:buChar char="●"/>
            </a:pPr>
            <a:r>
              <a:rPr lang="en-US" sz="1500" dirty="0">
                <a:solidFill>
                  <a:srgbClr val="EFF7F3"/>
                </a:solidFill>
                <a:latin typeface="Calibri" pitchFamily="34" charset="0"/>
                <a:ea typeface="Calibri" pitchFamily="34" charset="-122"/>
                <a:cs typeface="Calibri" pitchFamily="34" charset="-120"/>
              </a:rPr>
              <a:t>Semantic retrieval</a:t>
            </a:r>
            <a:endParaRPr lang="en-US" sz="1500" dirty="0"/>
          </a:p>
          <a:p>
            <a:pPr marL="342900" indent="-342900">
              <a:spcAft>
                <a:spcPts val="800"/>
              </a:spcAft>
              <a:buSzPct val="100000"/>
              <a:buChar char="●"/>
            </a:pPr>
            <a:r>
              <a:rPr lang="en-US" sz="1500" dirty="0">
                <a:solidFill>
                  <a:srgbClr val="EFF7F3"/>
                </a:solidFill>
                <a:latin typeface="Calibri" pitchFamily="34" charset="0"/>
                <a:ea typeface="Calibri" pitchFamily="34" charset="-122"/>
                <a:cs typeface="Calibri" pitchFamily="34" charset="-120"/>
              </a:rPr>
              <a:t>Context-aware explanation</a:t>
            </a:r>
            <a:endParaRPr lang="en-US" sz="1500" dirty="0"/>
          </a:p>
          <a:p>
            <a:pPr marL="342900" indent="-342900">
              <a:spcAft>
                <a:spcPts val="800"/>
              </a:spcAft>
              <a:buSzPct val="100000"/>
              <a:buChar char="●"/>
            </a:pPr>
            <a:r>
              <a:rPr lang="en-US" sz="1500" dirty="0">
                <a:solidFill>
                  <a:srgbClr val="EFF7F3"/>
                </a:solidFill>
                <a:latin typeface="Calibri" pitchFamily="34" charset="0"/>
                <a:ea typeface="Calibri" pitchFamily="34" charset="-122"/>
                <a:cs typeface="Calibri" pitchFamily="34" charset="-120"/>
              </a:rPr>
              <a:t>Source-grounded responses</a:t>
            </a:r>
            <a:endParaRPr lang="en-US" sz="1500" dirty="0"/>
          </a:p>
          <a:p>
            <a:pPr marL="342900" indent="-342900">
              <a:spcAft>
                <a:spcPts val="800"/>
              </a:spcAft>
              <a:buSzPct val="100000"/>
              <a:buChar char="●"/>
            </a:pPr>
            <a:r>
              <a:rPr lang="en-US" sz="1500" dirty="0">
                <a:solidFill>
                  <a:srgbClr val="EFF7F3"/>
                </a:solidFill>
                <a:latin typeface="Calibri" pitchFamily="34" charset="0"/>
                <a:ea typeface="Calibri" pitchFamily="34" charset="-122"/>
                <a:cs typeface="Calibri" pitchFamily="34" charset="-120"/>
              </a:rPr>
              <a:t>Reduced hallucination risk</a:t>
            </a:r>
            <a:endParaRPr lang="en-US" sz="1500" dirty="0"/>
          </a:p>
          <a:p>
            <a:pPr marL="342900" indent="-342900">
              <a:spcAft>
                <a:spcPts val="800"/>
              </a:spcAft>
              <a:buSzPct val="100000"/>
              <a:buChar char="●"/>
            </a:pPr>
            <a:r>
              <a:rPr lang="en-US" sz="1500" dirty="0">
                <a:solidFill>
                  <a:srgbClr val="EFF7F3"/>
                </a:solidFill>
                <a:latin typeface="Calibri" pitchFamily="34" charset="0"/>
                <a:ea typeface="Calibri" pitchFamily="34" charset="-122"/>
                <a:cs typeface="Calibri" pitchFamily="34" charset="-120"/>
              </a:rPr>
              <a:t>Traceable knowledge</a:t>
            </a:r>
            <a:endParaRPr lang="en-US" sz="1500" dirty="0"/>
          </a:p>
        </p:txBody>
      </p:sp>
      <p:sp>
        <p:nvSpPr>
          <p:cNvPr id="40" name="Shape 37"/>
          <p:cNvSpPr/>
          <p:nvPr/>
        </p:nvSpPr>
        <p:spPr>
          <a:xfrm>
            <a:off x="8138160" y="3566160"/>
            <a:ext cx="3474720" cy="2514600"/>
          </a:xfrm>
          <a:prstGeom prst="roundRect">
            <a:avLst>
              <a:gd name="adj" fmla="val 2909"/>
            </a:avLst>
          </a:prstGeom>
          <a:solidFill>
            <a:srgbClr val="152827"/>
          </a:solidFill>
          <a:ln w="12700">
            <a:solidFill>
              <a:srgbClr val="F0B24A"/>
            </a:solidFill>
            <a:prstDash val="solid"/>
          </a:ln>
        </p:spPr>
      </p:sp>
      <p:sp>
        <p:nvSpPr>
          <p:cNvPr id="41" name="Text 38"/>
          <p:cNvSpPr/>
          <p:nvPr/>
        </p:nvSpPr>
        <p:spPr>
          <a:xfrm>
            <a:off x="8321040" y="3703320"/>
            <a:ext cx="2743200" cy="274320"/>
          </a:xfrm>
          <a:prstGeom prst="rect">
            <a:avLst/>
          </a:prstGeom>
          <a:noFill/>
          <a:ln/>
        </p:spPr>
        <p:txBody>
          <a:bodyPr wrap="square" rtlCol="0" anchor="ctr"/>
          <a:lstStyle/>
          <a:p>
            <a:pPr indent="0" marL="0">
              <a:buNone/>
            </a:pPr>
            <a:r>
              <a:rPr lang="en-US" sz="1000" b="1" spc="300" kern="0" dirty="0">
                <a:solidFill>
                  <a:srgbClr val="F0B24A"/>
                </a:solidFill>
                <a:latin typeface="Calibri" pitchFamily="34" charset="0"/>
                <a:ea typeface="Calibri" pitchFamily="34" charset="-122"/>
                <a:cs typeface="Calibri" pitchFamily="34" charset="-120"/>
              </a:rPr>
              <a:t>SECURITY NOTE</a:t>
            </a:r>
            <a:endParaRPr lang="en-US" sz="1000" dirty="0"/>
          </a:p>
        </p:txBody>
      </p:sp>
      <p:sp>
        <p:nvSpPr>
          <p:cNvPr id="42" name="Text 39"/>
          <p:cNvSpPr/>
          <p:nvPr/>
        </p:nvSpPr>
        <p:spPr>
          <a:xfrm>
            <a:off x="8321040" y="4114800"/>
            <a:ext cx="3200400" cy="548640"/>
          </a:xfrm>
          <a:prstGeom prst="rect">
            <a:avLst/>
          </a:prstGeom>
          <a:noFill/>
          <a:ln/>
        </p:spPr>
        <p:txBody>
          <a:bodyPr wrap="square" rtlCol="0" anchor="ctr"/>
          <a:lstStyle/>
          <a:p>
            <a:pPr indent="0" marL="0">
              <a:buNone/>
            </a:pPr>
            <a:r>
              <a:rPr lang="en-US" sz="1700" b="1" dirty="0">
                <a:solidFill>
                  <a:srgbClr val="EFF7F3"/>
                </a:solidFill>
                <a:latin typeface="Calibri" pitchFamily="34" charset="0"/>
                <a:ea typeface="Calibri" pitchFamily="34" charset="-122"/>
                <a:cs typeface="Calibri" pitchFamily="34" charset="-120"/>
              </a:rPr>
              <a:t>Groq API Key → Backend only</a:t>
            </a:r>
            <a:endParaRPr lang="en-US" sz="1700" dirty="0"/>
          </a:p>
        </p:txBody>
      </p:sp>
      <p:sp>
        <p:nvSpPr>
          <p:cNvPr id="43" name="Text 40"/>
          <p:cNvSpPr/>
          <p:nvPr/>
        </p:nvSpPr>
        <p:spPr>
          <a:xfrm>
            <a:off x="8321040" y="4709160"/>
            <a:ext cx="3200400" cy="1188720"/>
          </a:xfrm>
          <a:prstGeom prst="rect">
            <a:avLst/>
          </a:prstGeom>
          <a:noFill/>
          <a:ln/>
        </p:spPr>
        <p:txBody>
          <a:bodyPr wrap="square" rtlCol="0" anchor="t"/>
          <a:lstStyle/>
          <a:p>
            <a:pPr indent="0" marL="0">
              <a:buNone/>
            </a:pPr>
            <a:r>
              <a:rPr lang="en-US" sz="1200" dirty="0">
                <a:solidFill>
                  <a:srgbClr val="9AB5AE"/>
                </a:solidFill>
                <a:latin typeface="Calibri" pitchFamily="34" charset="0"/>
                <a:ea typeface="Calibri" pitchFamily="34" charset="-122"/>
                <a:cs typeface="Calibri" pitchFamily="34" charset="-120"/>
              </a:rPr>
              <a:t>Keys live in server environment variables. The React client never receives or stores provider credentials.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06 · CASE STUDIES</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Case Studies: Commodity → Packaging Decision</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Illustrative prototype scenarios demonstrating the recommendation workflow</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Shape 4"/>
          <p:cNvSpPr/>
          <p:nvPr/>
        </p:nvSpPr>
        <p:spPr>
          <a:xfrm>
            <a:off x="548640" y="1783080"/>
            <a:ext cx="3566160" cy="4572000"/>
          </a:xfrm>
          <a:prstGeom prst="roundRect">
            <a:avLst>
              <a:gd name="adj" fmla="val 2051"/>
            </a:avLst>
          </a:prstGeom>
          <a:solidFill>
            <a:srgbClr val="152827"/>
          </a:solidFill>
          <a:ln w="12700">
            <a:solidFill>
              <a:srgbClr val="2A3D3B"/>
            </a:solidFill>
            <a:prstDash val="solid"/>
          </a:ln>
        </p:spPr>
      </p:sp>
      <p:pic>
        <p:nvPicPr>
          <p:cNvPr id="8" name="Image 0" descr="public/images/case-strawberry.png">    </p:cNvPr>
          <p:cNvPicPr>
            <a:picLocks noChangeAspect="1"/>
          </p:cNvPicPr>
          <p:nvPr/>
        </p:nvPicPr>
        <p:blipFill>
          <a:blip r:embed="rId1"/>
          <a:srcRect l="0" r="0" t="0" b="0"/>
          <a:stretch/>
        </p:blipFill>
        <p:spPr>
          <a:xfrm>
            <a:off x="566928" y="1801368"/>
            <a:ext cx="3529584" cy="1371600"/>
          </a:xfrm>
          <a:prstGeom prst="rect">
            <a:avLst/>
          </a:prstGeom>
        </p:spPr>
      </p:pic>
      <p:sp>
        <p:nvSpPr>
          <p:cNvPr id="9" name="Text 5"/>
          <p:cNvSpPr/>
          <p:nvPr/>
        </p:nvSpPr>
        <p:spPr>
          <a:xfrm>
            <a:off x="731520" y="3246120"/>
            <a:ext cx="1828800" cy="274320"/>
          </a:xfrm>
          <a:prstGeom prst="rect">
            <a:avLst/>
          </a:prstGeom>
          <a:noFill/>
          <a:ln/>
        </p:spPr>
        <p:txBody>
          <a:bodyPr wrap="square" rtlCol="0" anchor="ctr"/>
          <a:lstStyle/>
          <a:p>
            <a:pPr indent="0" marL="0">
              <a:buNone/>
            </a:pPr>
            <a:r>
              <a:rPr lang="en-US" sz="1000" b="1" spc="300" kern="0" dirty="0">
                <a:solidFill>
                  <a:srgbClr val="BDEBD6"/>
                </a:solidFill>
                <a:latin typeface="Calibri" pitchFamily="34" charset="0"/>
                <a:ea typeface="Calibri" pitchFamily="34" charset="-122"/>
                <a:cs typeface="Calibri" pitchFamily="34" charset="-120"/>
              </a:rPr>
              <a:t>CASE 01</a:t>
            </a:r>
            <a:endParaRPr lang="en-US" sz="1000" dirty="0"/>
          </a:p>
        </p:txBody>
      </p:sp>
      <p:sp>
        <p:nvSpPr>
          <p:cNvPr id="10" name="Text 6"/>
          <p:cNvSpPr/>
          <p:nvPr/>
        </p:nvSpPr>
        <p:spPr>
          <a:xfrm>
            <a:off x="731520" y="3474720"/>
            <a:ext cx="3200400" cy="411480"/>
          </a:xfrm>
          <a:prstGeom prst="rect">
            <a:avLst/>
          </a:prstGeom>
          <a:noFill/>
          <a:ln/>
        </p:spPr>
        <p:txBody>
          <a:bodyPr wrap="square" rtlCol="0" anchor="ctr"/>
          <a:lstStyle/>
          <a:p>
            <a:pPr indent="0" marL="0">
              <a:buNone/>
            </a:pPr>
            <a:r>
              <a:rPr lang="en-US" sz="1800" b="1" dirty="0">
                <a:solidFill>
                  <a:srgbClr val="EFF7F3"/>
                </a:solidFill>
                <a:latin typeface="Calibri" pitchFamily="34" charset="0"/>
                <a:ea typeface="Calibri" pitchFamily="34" charset="-122"/>
                <a:cs typeface="Calibri" pitchFamily="34" charset="-120"/>
              </a:rPr>
              <a:t>Strawberry</a:t>
            </a:r>
            <a:endParaRPr lang="en-US" sz="1800" dirty="0"/>
          </a:p>
        </p:txBody>
      </p:sp>
      <p:sp>
        <p:nvSpPr>
          <p:cNvPr id="11" name="Text 7"/>
          <p:cNvSpPr/>
          <p:nvPr/>
        </p:nvSpPr>
        <p:spPr>
          <a:xfrm>
            <a:off x="731520" y="3886200"/>
            <a:ext cx="3200400" cy="411480"/>
          </a:xfrm>
          <a:prstGeom prst="rect">
            <a:avLst/>
          </a:prstGeom>
          <a:noFill/>
          <a:ln/>
        </p:spPr>
        <p:txBody>
          <a:bodyPr wrap="square" rtlCol="0" anchor="ctr"/>
          <a:lstStyle/>
          <a:p>
            <a:pPr indent="0" marL="0">
              <a:buNone/>
            </a:pPr>
            <a:r>
              <a:rPr lang="en-US" sz="1100" dirty="0">
                <a:solidFill>
                  <a:srgbClr val="9AB5AE"/>
                </a:solidFill>
                <a:latin typeface="Calibri" pitchFamily="34" charset="0"/>
                <a:ea typeface="Calibri" pitchFamily="34" charset="-122"/>
                <a:cs typeface="Calibri" pitchFamily="34" charset="-120"/>
              </a:rPr>
              <a:t>High moisture · High respiration · Fresh produce</a:t>
            </a:r>
            <a:endParaRPr lang="en-US" sz="1100" dirty="0"/>
          </a:p>
        </p:txBody>
      </p:sp>
      <p:sp>
        <p:nvSpPr>
          <p:cNvPr id="12" name="Text 8"/>
          <p:cNvSpPr/>
          <p:nvPr/>
        </p:nvSpPr>
        <p:spPr>
          <a:xfrm>
            <a:off x="731520" y="434340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RECOMMENDATION</a:t>
            </a:r>
            <a:endParaRPr lang="en-US" sz="1000" dirty="0"/>
          </a:p>
        </p:txBody>
      </p:sp>
      <p:sp>
        <p:nvSpPr>
          <p:cNvPr id="13" name="Text 9"/>
          <p:cNvSpPr/>
          <p:nvPr/>
        </p:nvSpPr>
        <p:spPr>
          <a:xfrm>
            <a:off x="731520" y="4590288"/>
            <a:ext cx="3200400" cy="365760"/>
          </a:xfrm>
          <a:prstGeom prst="rect">
            <a:avLst/>
          </a:prstGeom>
          <a:noFill/>
          <a:ln/>
        </p:spPr>
        <p:txBody>
          <a:bodyPr wrap="square" rtlCol="0" anchor="ctr"/>
          <a:lstStyle/>
          <a:p>
            <a:pPr indent="0" marL="0">
              <a:buNone/>
            </a:pPr>
            <a:r>
              <a:rPr lang="en-US" sz="1400" b="1" dirty="0">
                <a:solidFill>
                  <a:srgbClr val="3FCB9A"/>
                </a:solidFill>
                <a:latin typeface="Calibri" pitchFamily="34" charset="0"/>
                <a:ea typeface="Calibri" pitchFamily="34" charset="-122"/>
                <a:cs typeface="Calibri" pitchFamily="34" charset="-120"/>
              </a:rPr>
              <a:t>Micro-perforated BOPP / PLA</a:t>
            </a:r>
            <a:endParaRPr lang="en-US" sz="1400" dirty="0"/>
          </a:p>
        </p:txBody>
      </p:sp>
      <p:sp>
        <p:nvSpPr>
          <p:cNvPr id="14" name="Text 10"/>
          <p:cNvSpPr/>
          <p:nvPr/>
        </p:nvSpPr>
        <p:spPr>
          <a:xfrm>
            <a:off x="731520" y="4983480"/>
            <a:ext cx="3200400" cy="1005840"/>
          </a:xfrm>
          <a:prstGeom prst="rect">
            <a:avLst/>
          </a:prstGeom>
          <a:noFill/>
          <a:ln/>
        </p:spPr>
        <p:txBody>
          <a:bodyPr wrap="square" rtlCol="0" anchor="t"/>
          <a:lstStyle/>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Controlled gas exchange</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Moisture management</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Reduced oxygen-depletion risk</a:t>
            </a:r>
            <a:endParaRPr lang="en-US" sz="1200" dirty="0"/>
          </a:p>
        </p:txBody>
      </p:sp>
      <p:sp>
        <p:nvSpPr>
          <p:cNvPr id="15" name="Text 11"/>
          <p:cNvSpPr/>
          <p:nvPr/>
        </p:nvSpPr>
        <p:spPr>
          <a:xfrm>
            <a:off x="731520" y="5989320"/>
            <a:ext cx="3200400" cy="274320"/>
          </a:xfrm>
          <a:prstGeom prst="rect">
            <a:avLst/>
          </a:prstGeom>
          <a:noFill/>
          <a:ln/>
        </p:spPr>
        <p:txBody>
          <a:bodyPr wrap="square" rtlCol="0" anchor="ctr"/>
          <a:lstStyle/>
          <a:p>
            <a:pPr indent="0" marL="0">
              <a:buNone/>
            </a:pPr>
            <a:r>
              <a:rPr lang="en-US" sz="900" i="1" dirty="0">
                <a:solidFill>
                  <a:srgbClr val="F0B24A"/>
                </a:solidFill>
                <a:latin typeface="Calibri" pitchFamily="34" charset="0"/>
                <a:ea typeface="Calibri" pitchFamily="34" charset="-122"/>
                <a:cs typeface="Calibri" pitchFamily="34" charset="-120"/>
              </a:rPr>
              <a:t>Prototype / Literature-informed</a:t>
            </a:r>
            <a:endParaRPr lang="en-US" sz="900" dirty="0"/>
          </a:p>
        </p:txBody>
      </p:sp>
      <p:sp>
        <p:nvSpPr>
          <p:cNvPr id="16" name="Shape 12"/>
          <p:cNvSpPr/>
          <p:nvPr/>
        </p:nvSpPr>
        <p:spPr>
          <a:xfrm>
            <a:off x="4297680" y="1783080"/>
            <a:ext cx="3566160" cy="4572000"/>
          </a:xfrm>
          <a:prstGeom prst="roundRect">
            <a:avLst>
              <a:gd name="adj" fmla="val 2051"/>
            </a:avLst>
          </a:prstGeom>
          <a:solidFill>
            <a:srgbClr val="152827"/>
          </a:solidFill>
          <a:ln w="12700">
            <a:solidFill>
              <a:srgbClr val="2A3D3B"/>
            </a:solidFill>
            <a:prstDash val="solid"/>
          </a:ln>
        </p:spPr>
      </p:sp>
      <p:pic>
        <p:nvPicPr>
          <p:cNvPr id="17" name="Image 1" descr="public/images/case-chips.png">    </p:cNvPr>
          <p:cNvPicPr>
            <a:picLocks noChangeAspect="1"/>
          </p:cNvPicPr>
          <p:nvPr/>
        </p:nvPicPr>
        <p:blipFill>
          <a:blip r:embed="rId2"/>
          <a:srcRect l="0" r="0" t="0" b="0"/>
          <a:stretch/>
        </p:blipFill>
        <p:spPr>
          <a:xfrm>
            <a:off x="4315968" y="1801368"/>
            <a:ext cx="3529584" cy="1371600"/>
          </a:xfrm>
          <a:prstGeom prst="rect">
            <a:avLst/>
          </a:prstGeom>
        </p:spPr>
      </p:pic>
      <p:sp>
        <p:nvSpPr>
          <p:cNvPr id="18" name="Text 13"/>
          <p:cNvSpPr/>
          <p:nvPr/>
        </p:nvSpPr>
        <p:spPr>
          <a:xfrm>
            <a:off x="4480560" y="3246120"/>
            <a:ext cx="1828800" cy="274320"/>
          </a:xfrm>
          <a:prstGeom prst="rect">
            <a:avLst/>
          </a:prstGeom>
          <a:noFill/>
          <a:ln/>
        </p:spPr>
        <p:txBody>
          <a:bodyPr wrap="square" rtlCol="0" anchor="ctr"/>
          <a:lstStyle/>
          <a:p>
            <a:pPr indent="0" marL="0">
              <a:buNone/>
            </a:pPr>
            <a:r>
              <a:rPr lang="en-US" sz="1000" b="1" spc="300" kern="0" dirty="0">
                <a:solidFill>
                  <a:srgbClr val="BDEBD6"/>
                </a:solidFill>
                <a:latin typeface="Calibri" pitchFamily="34" charset="0"/>
                <a:ea typeface="Calibri" pitchFamily="34" charset="-122"/>
                <a:cs typeface="Calibri" pitchFamily="34" charset="-120"/>
              </a:rPr>
              <a:t>CASE 02</a:t>
            </a:r>
            <a:endParaRPr lang="en-US" sz="1000" dirty="0"/>
          </a:p>
        </p:txBody>
      </p:sp>
      <p:sp>
        <p:nvSpPr>
          <p:cNvPr id="19" name="Text 14"/>
          <p:cNvSpPr/>
          <p:nvPr/>
        </p:nvSpPr>
        <p:spPr>
          <a:xfrm>
            <a:off x="4480560" y="3474720"/>
            <a:ext cx="3200400" cy="411480"/>
          </a:xfrm>
          <a:prstGeom prst="rect">
            <a:avLst/>
          </a:prstGeom>
          <a:noFill/>
          <a:ln/>
        </p:spPr>
        <p:txBody>
          <a:bodyPr wrap="square" rtlCol="0" anchor="ctr"/>
          <a:lstStyle/>
          <a:p>
            <a:pPr indent="0" marL="0">
              <a:buNone/>
            </a:pPr>
            <a:r>
              <a:rPr lang="en-US" sz="1800" b="1" dirty="0">
                <a:solidFill>
                  <a:srgbClr val="EFF7F3"/>
                </a:solidFill>
                <a:latin typeface="Calibri" pitchFamily="34" charset="0"/>
                <a:ea typeface="Calibri" pitchFamily="34" charset="-122"/>
                <a:cs typeface="Calibri" pitchFamily="34" charset="-120"/>
              </a:rPr>
              <a:t>Potato Chips</a:t>
            </a:r>
            <a:endParaRPr lang="en-US" sz="1800" dirty="0"/>
          </a:p>
        </p:txBody>
      </p:sp>
      <p:sp>
        <p:nvSpPr>
          <p:cNvPr id="20" name="Text 15"/>
          <p:cNvSpPr/>
          <p:nvPr/>
        </p:nvSpPr>
        <p:spPr>
          <a:xfrm>
            <a:off x="4480560" y="3886200"/>
            <a:ext cx="3200400" cy="411480"/>
          </a:xfrm>
          <a:prstGeom prst="rect">
            <a:avLst/>
          </a:prstGeom>
          <a:noFill/>
          <a:ln/>
        </p:spPr>
        <p:txBody>
          <a:bodyPr wrap="square" rtlCol="0" anchor="ctr"/>
          <a:lstStyle/>
          <a:p>
            <a:pPr indent="0" marL="0">
              <a:buNone/>
            </a:pPr>
            <a:r>
              <a:rPr lang="en-US" sz="1100" dirty="0">
                <a:solidFill>
                  <a:srgbClr val="9AB5AE"/>
                </a:solidFill>
                <a:latin typeface="Calibri" pitchFamily="34" charset="0"/>
                <a:ea typeface="Calibri" pitchFamily="34" charset="-122"/>
                <a:cs typeface="Calibri" pitchFamily="34" charset="-120"/>
              </a:rPr>
              <a:t>Low moisture target · Oxidation-sensitive</a:t>
            </a:r>
            <a:endParaRPr lang="en-US" sz="1100" dirty="0"/>
          </a:p>
        </p:txBody>
      </p:sp>
      <p:sp>
        <p:nvSpPr>
          <p:cNvPr id="21" name="Text 16"/>
          <p:cNvSpPr/>
          <p:nvPr/>
        </p:nvSpPr>
        <p:spPr>
          <a:xfrm>
            <a:off x="4480560" y="434340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RECOMMENDATION</a:t>
            </a:r>
            <a:endParaRPr lang="en-US" sz="1000" dirty="0"/>
          </a:p>
        </p:txBody>
      </p:sp>
      <p:sp>
        <p:nvSpPr>
          <p:cNvPr id="22" name="Text 17"/>
          <p:cNvSpPr/>
          <p:nvPr/>
        </p:nvSpPr>
        <p:spPr>
          <a:xfrm>
            <a:off x="4480560" y="4590288"/>
            <a:ext cx="3200400" cy="365760"/>
          </a:xfrm>
          <a:prstGeom prst="rect">
            <a:avLst/>
          </a:prstGeom>
          <a:noFill/>
          <a:ln/>
        </p:spPr>
        <p:txBody>
          <a:bodyPr wrap="square" rtlCol="0" anchor="ctr"/>
          <a:lstStyle/>
          <a:p>
            <a:pPr indent="0" marL="0">
              <a:buNone/>
            </a:pPr>
            <a:r>
              <a:rPr lang="en-US" sz="1400" b="1" dirty="0">
                <a:solidFill>
                  <a:srgbClr val="3FCB9A"/>
                </a:solidFill>
                <a:latin typeface="Calibri" pitchFamily="34" charset="0"/>
                <a:ea typeface="Calibri" pitchFamily="34" charset="-122"/>
                <a:cs typeface="Calibri" pitchFamily="34" charset="-120"/>
              </a:rPr>
              <a:t>Metallized BOPP / CPP</a:t>
            </a:r>
            <a:endParaRPr lang="en-US" sz="1400" dirty="0"/>
          </a:p>
        </p:txBody>
      </p:sp>
      <p:sp>
        <p:nvSpPr>
          <p:cNvPr id="23" name="Text 18"/>
          <p:cNvSpPr/>
          <p:nvPr/>
        </p:nvSpPr>
        <p:spPr>
          <a:xfrm>
            <a:off x="4480560" y="4983480"/>
            <a:ext cx="3200400" cy="1005840"/>
          </a:xfrm>
          <a:prstGeom prst="rect">
            <a:avLst/>
          </a:prstGeom>
          <a:noFill/>
          <a:ln/>
        </p:spPr>
        <p:txBody>
          <a:bodyPr wrap="square" rtlCol="0" anchor="t"/>
          <a:lstStyle/>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High oxygen barrier</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High moisture barrier</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Good sealability</a:t>
            </a:r>
            <a:endParaRPr lang="en-US" sz="1200" dirty="0"/>
          </a:p>
        </p:txBody>
      </p:sp>
      <p:sp>
        <p:nvSpPr>
          <p:cNvPr id="24" name="Text 19"/>
          <p:cNvSpPr/>
          <p:nvPr/>
        </p:nvSpPr>
        <p:spPr>
          <a:xfrm>
            <a:off x="4480560" y="5989320"/>
            <a:ext cx="3200400" cy="274320"/>
          </a:xfrm>
          <a:prstGeom prst="rect">
            <a:avLst/>
          </a:prstGeom>
          <a:noFill/>
          <a:ln/>
        </p:spPr>
        <p:txBody>
          <a:bodyPr wrap="square" rtlCol="0" anchor="ctr"/>
          <a:lstStyle/>
          <a:p>
            <a:pPr indent="0" marL="0">
              <a:buNone/>
            </a:pPr>
            <a:r>
              <a:rPr lang="en-US" sz="900" i="1" dirty="0">
                <a:solidFill>
                  <a:srgbClr val="F0B24A"/>
                </a:solidFill>
                <a:latin typeface="Calibri" pitchFamily="34" charset="0"/>
                <a:ea typeface="Calibri" pitchFamily="34" charset="-122"/>
                <a:cs typeface="Calibri" pitchFamily="34" charset="-120"/>
              </a:rPr>
              <a:t>Prototype / Literature-informed</a:t>
            </a:r>
            <a:endParaRPr lang="en-US" sz="900" dirty="0"/>
          </a:p>
        </p:txBody>
      </p:sp>
      <p:sp>
        <p:nvSpPr>
          <p:cNvPr id="25" name="Shape 20"/>
          <p:cNvSpPr/>
          <p:nvPr/>
        </p:nvSpPr>
        <p:spPr>
          <a:xfrm>
            <a:off x="8046720" y="1783080"/>
            <a:ext cx="3566160" cy="4572000"/>
          </a:xfrm>
          <a:prstGeom prst="roundRect">
            <a:avLst>
              <a:gd name="adj" fmla="val 2051"/>
            </a:avLst>
          </a:prstGeom>
          <a:solidFill>
            <a:srgbClr val="152827"/>
          </a:solidFill>
          <a:ln w="12700">
            <a:solidFill>
              <a:srgbClr val="2A3D3B"/>
            </a:solidFill>
            <a:prstDash val="solid"/>
          </a:ln>
        </p:spPr>
      </p:sp>
      <p:pic>
        <p:nvPicPr>
          <p:cNvPr id="26" name="Image 2" descr="public/images/case-meat.png">    </p:cNvPr>
          <p:cNvPicPr>
            <a:picLocks noChangeAspect="1"/>
          </p:cNvPicPr>
          <p:nvPr/>
        </p:nvPicPr>
        <p:blipFill>
          <a:blip r:embed="rId3"/>
          <a:srcRect l="0" r="0" t="0" b="0"/>
          <a:stretch/>
        </p:blipFill>
        <p:spPr>
          <a:xfrm>
            <a:off x="8065008" y="1801368"/>
            <a:ext cx="3529584" cy="1371600"/>
          </a:xfrm>
          <a:prstGeom prst="rect">
            <a:avLst/>
          </a:prstGeom>
        </p:spPr>
      </p:pic>
      <p:sp>
        <p:nvSpPr>
          <p:cNvPr id="27" name="Text 21"/>
          <p:cNvSpPr/>
          <p:nvPr/>
        </p:nvSpPr>
        <p:spPr>
          <a:xfrm>
            <a:off x="8229600" y="3246120"/>
            <a:ext cx="1828800" cy="274320"/>
          </a:xfrm>
          <a:prstGeom prst="rect">
            <a:avLst/>
          </a:prstGeom>
          <a:noFill/>
          <a:ln/>
        </p:spPr>
        <p:txBody>
          <a:bodyPr wrap="square" rtlCol="0" anchor="ctr"/>
          <a:lstStyle/>
          <a:p>
            <a:pPr indent="0" marL="0">
              <a:buNone/>
            </a:pPr>
            <a:r>
              <a:rPr lang="en-US" sz="1000" b="1" spc="300" kern="0" dirty="0">
                <a:solidFill>
                  <a:srgbClr val="BDEBD6"/>
                </a:solidFill>
                <a:latin typeface="Calibri" pitchFamily="34" charset="0"/>
                <a:ea typeface="Calibri" pitchFamily="34" charset="-122"/>
                <a:cs typeface="Calibri" pitchFamily="34" charset="-120"/>
              </a:rPr>
              <a:t>CASE 03</a:t>
            </a:r>
            <a:endParaRPr lang="en-US" sz="1000" dirty="0"/>
          </a:p>
        </p:txBody>
      </p:sp>
      <p:sp>
        <p:nvSpPr>
          <p:cNvPr id="28" name="Text 22"/>
          <p:cNvSpPr/>
          <p:nvPr/>
        </p:nvSpPr>
        <p:spPr>
          <a:xfrm>
            <a:off x="8229600" y="3474720"/>
            <a:ext cx="3200400" cy="411480"/>
          </a:xfrm>
          <a:prstGeom prst="rect">
            <a:avLst/>
          </a:prstGeom>
          <a:noFill/>
          <a:ln/>
        </p:spPr>
        <p:txBody>
          <a:bodyPr wrap="square" rtlCol="0" anchor="ctr"/>
          <a:lstStyle/>
          <a:p>
            <a:pPr indent="0" marL="0">
              <a:buNone/>
            </a:pPr>
            <a:r>
              <a:rPr lang="en-US" sz="1800" b="1" dirty="0">
                <a:solidFill>
                  <a:srgbClr val="EFF7F3"/>
                </a:solidFill>
                <a:latin typeface="Calibri" pitchFamily="34" charset="0"/>
                <a:ea typeface="Calibri" pitchFamily="34" charset="-122"/>
                <a:cs typeface="Calibri" pitchFamily="34" charset="-120"/>
              </a:rPr>
              <a:t>Fresh Meat</a:t>
            </a:r>
            <a:endParaRPr lang="en-US" sz="1800" dirty="0"/>
          </a:p>
        </p:txBody>
      </p:sp>
      <p:sp>
        <p:nvSpPr>
          <p:cNvPr id="29" name="Text 23"/>
          <p:cNvSpPr/>
          <p:nvPr/>
        </p:nvSpPr>
        <p:spPr>
          <a:xfrm>
            <a:off x="8229600" y="3886200"/>
            <a:ext cx="3200400" cy="411480"/>
          </a:xfrm>
          <a:prstGeom prst="rect">
            <a:avLst/>
          </a:prstGeom>
          <a:noFill/>
          <a:ln/>
        </p:spPr>
        <p:txBody>
          <a:bodyPr wrap="square" rtlCol="0" anchor="ctr"/>
          <a:lstStyle/>
          <a:p>
            <a:pPr indent="0" marL="0">
              <a:buNone/>
            </a:pPr>
            <a:r>
              <a:rPr lang="en-US" sz="1100" dirty="0">
                <a:solidFill>
                  <a:srgbClr val="9AB5AE"/>
                </a:solidFill>
                <a:latin typeface="Calibri" pitchFamily="34" charset="0"/>
                <a:ea typeface="Calibri" pitchFamily="34" charset="-122"/>
                <a:cs typeface="Calibri" pitchFamily="34" charset="-120"/>
              </a:rPr>
              <a:t>High perishability</a:t>
            </a:r>
            <a:endParaRPr lang="en-US" sz="1100" dirty="0"/>
          </a:p>
        </p:txBody>
      </p:sp>
      <p:sp>
        <p:nvSpPr>
          <p:cNvPr id="30" name="Text 24"/>
          <p:cNvSpPr/>
          <p:nvPr/>
        </p:nvSpPr>
        <p:spPr>
          <a:xfrm>
            <a:off x="8229600" y="4343400"/>
            <a:ext cx="2743200" cy="274320"/>
          </a:xfrm>
          <a:prstGeom prst="rect">
            <a:avLst/>
          </a:prstGeom>
          <a:noFill/>
          <a:ln/>
        </p:spPr>
        <p:txBody>
          <a:bodyPr wrap="square" rtlCol="0" anchor="ctr"/>
          <a:lstStyle/>
          <a:p>
            <a:pPr indent="0" marL="0">
              <a:buNone/>
            </a:pPr>
            <a:r>
              <a:rPr lang="en-US" sz="1000" b="1" spc="300" kern="0" dirty="0">
                <a:solidFill>
                  <a:srgbClr val="9AB5AE"/>
                </a:solidFill>
                <a:latin typeface="Calibri" pitchFamily="34" charset="0"/>
                <a:ea typeface="Calibri" pitchFamily="34" charset="-122"/>
                <a:cs typeface="Calibri" pitchFamily="34" charset="-120"/>
              </a:rPr>
              <a:t>RECOMMENDATION</a:t>
            </a:r>
            <a:endParaRPr lang="en-US" sz="1000" dirty="0"/>
          </a:p>
        </p:txBody>
      </p:sp>
      <p:sp>
        <p:nvSpPr>
          <p:cNvPr id="31" name="Text 25"/>
          <p:cNvSpPr/>
          <p:nvPr/>
        </p:nvSpPr>
        <p:spPr>
          <a:xfrm>
            <a:off x="8229600" y="4590288"/>
            <a:ext cx="3200400" cy="365760"/>
          </a:xfrm>
          <a:prstGeom prst="rect">
            <a:avLst/>
          </a:prstGeom>
          <a:noFill/>
          <a:ln/>
        </p:spPr>
        <p:txBody>
          <a:bodyPr wrap="square" rtlCol="0" anchor="ctr"/>
          <a:lstStyle/>
          <a:p>
            <a:pPr indent="0" marL="0">
              <a:buNone/>
            </a:pPr>
            <a:r>
              <a:rPr lang="en-US" sz="1400" b="1" dirty="0">
                <a:solidFill>
                  <a:srgbClr val="3FCB9A"/>
                </a:solidFill>
                <a:latin typeface="Calibri" pitchFamily="34" charset="0"/>
                <a:ea typeface="Calibri" pitchFamily="34" charset="-122"/>
                <a:cs typeface="Calibri" pitchFamily="34" charset="-120"/>
              </a:rPr>
              <a:t>EVOH/PA barrier · Vacuum Skin Pack</a:t>
            </a:r>
            <a:endParaRPr lang="en-US" sz="1400" dirty="0"/>
          </a:p>
        </p:txBody>
      </p:sp>
      <p:sp>
        <p:nvSpPr>
          <p:cNvPr id="32" name="Text 26"/>
          <p:cNvSpPr/>
          <p:nvPr/>
        </p:nvSpPr>
        <p:spPr>
          <a:xfrm>
            <a:off x="8229600" y="4983480"/>
            <a:ext cx="3200400" cy="1005840"/>
          </a:xfrm>
          <a:prstGeom prst="rect">
            <a:avLst/>
          </a:prstGeom>
          <a:noFill/>
          <a:ln/>
        </p:spPr>
        <p:txBody>
          <a:bodyPr wrap="square" rtlCol="0" anchor="t"/>
          <a:lstStyle/>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Oxygen barrier</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Puncture resistance</a:t>
            </a:r>
            <a:endParaRPr lang="en-US" sz="1200" dirty="0"/>
          </a:p>
          <a:p>
            <a:pPr marL="342900" indent="-342900">
              <a:spcAft>
                <a:spcPts val="800"/>
              </a:spcAft>
              <a:buSzPct val="100000"/>
              <a:buChar char="●"/>
            </a:pPr>
            <a:r>
              <a:rPr lang="en-US" sz="1200" dirty="0">
                <a:solidFill>
                  <a:srgbClr val="EFF7F3"/>
                </a:solidFill>
                <a:latin typeface="Calibri" pitchFamily="34" charset="0"/>
                <a:ea typeface="Calibri" pitchFamily="34" charset="-122"/>
                <a:cs typeface="Calibri" pitchFamily="34" charset="-120"/>
              </a:rPr>
              <a:t>Vacuum compatibility</a:t>
            </a:r>
            <a:endParaRPr lang="en-US" sz="1200" dirty="0"/>
          </a:p>
        </p:txBody>
      </p:sp>
      <p:sp>
        <p:nvSpPr>
          <p:cNvPr id="33" name="Text 27"/>
          <p:cNvSpPr/>
          <p:nvPr/>
        </p:nvSpPr>
        <p:spPr>
          <a:xfrm>
            <a:off x="8229600" y="5989320"/>
            <a:ext cx="3200400" cy="274320"/>
          </a:xfrm>
          <a:prstGeom prst="rect">
            <a:avLst/>
          </a:prstGeom>
          <a:noFill/>
          <a:ln/>
        </p:spPr>
        <p:txBody>
          <a:bodyPr wrap="square" rtlCol="0" anchor="ctr"/>
          <a:lstStyle/>
          <a:p>
            <a:pPr indent="0" marL="0">
              <a:buNone/>
            </a:pPr>
            <a:r>
              <a:rPr lang="en-US" sz="900" i="1" dirty="0">
                <a:solidFill>
                  <a:srgbClr val="F0B24A"/>
                </a:solidFill>
                <a:latin typeface="Calibri" pitchFamily="34" charset="0"/>
                <a:ea typeface="Calibri" pitchFamily="34" charset="-122"/>
                <a:cs typeface="Calibri" pitchFamily="34" charset="-120"/>
              </a:rPr>
              <a:t>Prototype / Literature-informed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07 · PLATFORM</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Secure, Traceable &amp; User-Centric Platform</a:t>
            </a:r>
            <a:endParaRPr lang="en-US" sz="3000" dirty="0"/>
          </a:p>
        </p:txBody>
      </p:sp>
      <p:sp>
        <p:nvSpPr>
          <p:cNvPr id="4" name="Text 2"/>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6" name="Shape 3"/>
          <p:cNvSpPr/>
          <p:nvPr/>
        </p:nvSpPr>
        <p:spPr>
          <a:xfrm>
            <a:off x="548640" y="1463040"/>
            <a:ext cx="3566160" cy="4754880"/>
          </a:xfrm>
          <a:prstGeom prst="roundRect">
            <a:avLst>
              <a:gd name="adj" fmla="val 2051"/>
            </a:avLst>
          </a:prstGeom>
          <a:solidFill>
            <a:srgbClr val="152827"/>
          </a:solidFill>
          <a:ln w="12700">
            <a:solidFill>
              <a:srgbClr val="2A3D3B"/>
            </a:solidFill>
            <a:prstDash val="solid"/>
          </a:ln>
        </p:spPr>
      </p:sp>
      <p:sp>
        <p:nvSpPr>
          <p:cNvPr id="7" name="Text 4"/>
          <p:cNvSpPr/>
          <p:nvPr/>
        </p:nvSpPr>
        <p:spPr>
          <a:xfrm>
            <a:off x="731520" y="1600200"/>
            <a:ext cx="27432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SECURITY</a:t>
            </a:r>
            <a:endParaRPr lang="en-US" sz="1000" dirty="0"/>
          </a:p>
        </p:txBody>
      </p:sp>
      <p:sp>
        <p:nvSpPr>
          <p:cNvPr id="8" name="Text 5"/>
          <p:cNvSpPr/>
          <p:nvPr/>
        </p:nvSpPr>
        <p:spPr>
          <a:xfrm>
            <a:off x="731520" y="2011680"/>
            <a:ext cx="3200400" cy="548640"/>
          </a:xfrm>
          <a:prstGeom prst="rect">
            <a:avLst/>
          </a:prstGeom>
          <a:noFill/>
          <a:ln/>
        </p:spPr>
        <p:txBody>
          <a:bodyPr wrap="square" rtlCol="0" anchor="ctr"/>
          <a:lstStyle/>
          <a:p>
            <a:pPr indent="0" marL="0">
              <a:buNone/>
            </a:pPr>
            <a:r>
              <a:rPr lang="en-US" sz="1500" dirty="0">
                <a:solidFill>
                  <a:srgbClr val="EFF7F3"/>
                </a:solidFill>
                <a:latin typeface="Calibri" pitchFamily="34" charset="0"/>
                <a:ea typeface="Calibri" pitchFamily="34" charset="-122"/>
                <a:cs typeface="Calibri" pitchFamily="34" charset="-120"/>
              </a:rPr>
              <a:t>bcrypt password hashing</a:t>
            </a:r>
            <a:endParaRPr lang="en-US" sz="1500" dirty="0"/>
          </a:p>
        </p:txBody>
      </p:sp>
      <p:sp>
        <p:nvSpPr>
          <p:cNvPr id="9" name="Shape 6"/>
          <p:cNvSpPr/>
          <p:nvPr/>
        </p:nvSpPr>
        <p:spPr>
          <a:xfrm>
            <a:off x="731520" y="2606040"/>
            <a:ext cx="3200400" cy="0"/>
          </a:xfrm>
          <a:prstGeom prst="line">
            <a:avLst/>
          </a:prstGeom>
          <a:noFill/>
          <a:ln w="12700">
            <a:solidFill>
              <a:srgbClr val="2A3D3B"/>
            </a:solidFill>
            <a:prstDash val="solid"/>
          </a:ln>
        </p:spPr>
      </p:sp>
      <p:sp>
        <p:nvSpPr>
          <p:cNvPr id="10" name="Text 7"/>
          <p:cNvSpPr/>
          <p:nvPr/>
        </p:nvSpPr>
        <p:spPr>
          <a:xfrm>
            <a:off x="731520" y="2743200"/>
            <a:ext cx="3200400" cy="548640"/>
          </a:xfrm>
          <a:prstGeom prst="rect">
            <a:avLst/>
          </a:prstGeom>
          <a:noFill/>
          <a:ln/>
        </p:spPr>
        <p:txBody>
          <a:bodyPr wrap="square" rtlCol="0" anchor="ctr"/>
          <a:lstStyle/>
          <a:p>
            <a:pPr indent="0" marL="0">
              <a:buNone/>
            </a:pPr>
            <a:r>
              <a:rPr lang="en-US" sz="1500" dirty="0">
                <a:solidFill>
                  <a:srgbClr val="EFF7F3"/>
                </a:solidFill>
                <a:latin typeface="Calibri" pitchFamily="34" charset="0"/>
                <a:ea typeface="Calibri" pitchFamily="34" charset="-122"/>
                <a:cs typeface="Calibri" pitchFamily="34" charset="-120"/>
              </a:rPr>
              <a:t>JWT Bearer authentication</a:t>
            </a:r>
            <a:endParaRPr lang="en-US" sz="1500" dirty="0"/>
          </a:p>
        </p:txBody>
      </p:sp>
      <p:sp>
        <p:nvSpPr>
          <p:cNvPr id="11" name="Shape 8"/>
          <p:cNvSpPr/>
          <p:nvPr/>
        </p:nvSpPr>
        <p:spPr>
          <a:xfrm>
            <a:off x="731520" y="3337560"/>
            <a:ext cx="3200400" cy="0"/>
          </a:xfrm>
          <a:prstGeom prst="line">
            <a:avLst/>
          </a:prstGeom>
          <a:noFill/>
          <a:ln w="12700">
            <a:solidFill>
              <a:srgbClr val="2A3D3B"/>
            </a:solidFill>
            <a:prstDash val="solid"/>
          </a:ln>
        </p:spPr>
      </p:sp>
      <p:sp>
        <p:nvSpPr>
          <p:cNvPr id="12" name="Text 9"/>
          <p:cNvSpPr/>
          <p:nvPr/>
        </p:nvSpPr>
        <p:spPr>
          <a:xfrm>
            <a:off x="731520" y="3474720"/>
            <a:ext cx="3200400" cy="548640"/>
          </a:xfrm>
          <a:prstGeom prst="rect">
            <a:avLst/>
          </a:prstGeom>
          <a:noFill/>
          <a:ln/>
        </p:spPr>
        <p:txBody>
          <a:bodyPr wrap="square" rtlCol="0" anchor="ctr"/>
          <a:lstStyle/>
          <a:p>
            <a:pPr indent="0" marL="0">
              <a:buNone/>
            </a:pPr>
            <a:r>
              <a:rPr lang="en-US" sz="1500" dirty="0">
                <a:solidFill>
                  <a:srgbClr val="EFF7F3"/>
                </a:solidFill>
                <a:latin typeface="Calibri" pitchFamily="34" charset="0"/>
                <a:ea typeface="Calibri" pitchFamily="34" charset="-122"/>
                <a:cs typeface="Calibri" pitchFamily="34" charset="-120"/>
              </a:rPr>
              <a:t>Protected API routes</a:t>
            </a:r>
            <a:endParaRPr lang="en-US" sz="1500" dirty="0"/>
          </a:p>
        </p:txBody>
      </p:sp>
      <p:sp>
        <p:nvSpPr>
          <p:cNvPr id="13" name="Shape 10"/>
          <p:cNvSpPr/>
          <p:nvPr/>
        </p:nvSpPr>
        <p:spPr>
          <a:xfrm>
            <a:off x="731520" y="4069080"/>
            <a:ext cx="3200400" cy="0"/>
          </a:xfrm>
          <a:prstGeom prst="line">
            <a:avLst/>
          </a:prstGeom>
          <a:noFill/>
          <a:ln w="12700">
            <a:solidFill>
              <a:srgbClr val="2A3D3B"/>
            </a:solidFill>
            <a:prstDash val="solid"/>
          </a:ln>
        </p:spPr>
      </p:sp>
      <p:sp>
        <p:nvSpPr>
          <p:cNvPr id="14" name="Text 11"/>
          <p:cNvSpPr/>
          <p:nvPr/>
        </p:nvSpPr>
        <p:spPr>
          <a:xfrm>
            <a:off x="731520" y="4206240"/>
            <a:ext cx="3200400" cy="548640"/>
          </a:xfrm>
          <a:prstGeom prst="rect">
            <a:avLst/>
          </a:prstGeom>
          <a:noFill/>
          <a:ln/>
        </p:spPr>
        <p:txBody>
          <a:bodyPr wrap="square" rtlCol="0" anchor="ctr"/>
          <a:lstStyle/>
          <a:p>
            <a:pPr indent="0" marL="0">
              <a:buNone/>
            </a:pPr>
            <a:r>
              <a:rPr lang="en-US" sz="1500" dirty="0">
                <a:solidFill>
                  <a:srgbClr val="EFF7F3"/>
                </a:solidFill>
                <a:latin typeface="Calibri" pitchFamily="34" charset="0"/>
                <a:ea typeface="Calibri" pitchFamily="34" charset="-122"/>
                <a:cs typeface="Calibri" pitchFamily="34" charset="-120"/>
              </a:rPr>
              <a:t>Backend-only API keys</a:t>
            </a:r>
            <a:endParaRPr lang="en-US" sz="1500" dirty="0"/>
          </a:p>
        </p:txBody>
      </p:sp>
      <p:sp>
        <p:nvSpPr>
          <p:cNvPr id="15" name="Shape 12"/>
          <p:cNvSpPr/>
          <p:nvPr/>
        </p:nvSpPr>
        <p:spPr>
          <a:xfrm>
            <a:off x="731520" y="4800600"/>
            <a:ext cx="3200400" cy="0"/>
          </a:xfrm>
          <a:prstGeom prst="line">
            <a:avLst/>
          </a:prstGeom>
          <a:noFill/>
          <a:ln w="12700">
            <a:solidFill>
              <a:srgbClr val="2A3D3B"/>
            </a:solidFill>
            <a:prstDash val="solid"/>
          </a:ln>
        </p:spPr>
      </p:sp>
      <p:sp>
        <p:nvSpPr>
          <p:cNvPr id="16" name="Text 13"/>
          <p:cNvSpPr/>
          <p:nvPr/>
        </p:nvSpPr>
        <p:spPr>
          <a:xfrm>
            <a:off x="731520" y="4937760"/>
            <a:ext cx="3200400" cy="548640"/>
          </a:xfrm>
          <a:prstGeom prst="rect">
            <a:avLst/>
          </a:prstGeom>
          <a:noFill/>
          <a:ln/>
        </p:spPr>
        <p:txBody>
          <a:bodyPr wrap="square" rtlCol="0" anchor="ctr"/>
          <a:lstStyle/>
          <a:p>
            <a:pPr indent="0" marL="0">
              <a:buNone/>
            </a:pPr>
            <a:r>
              <a:rPr lang="en-US" sz="1500" dirty="0">
                <a:solidFill>
                  <a:srgbClr val="EFF7F3"/>
                </a:solidFill>
                <a:latin typeface="Calibri" pitchFamily="34" charset="0"/>
                <a:ea typeface="Calibri" pitchFamily="34" charset="-122"/>
                <a:cs typeface="Calibri" pitchFamily="34" charset="-120"/>
              </a:rPr>
              <a:t>User data isolation</a:t>
            </a:r>
            <a:endParaRPr lang="en-US" sz="1500" dirty="0"/>
          </a:p>
        </p:txBody>
      </p:sp>
      <p:sp>
        <p:nvSpPr>
          <p:cNvPr id="17" name="Shape 14"/>
          <p:cNvSpPr/>
          <p:nvPr/>
        </p:nvSpPr>
        <p:spPr>
          <a:xfrm>
            <a:off x="4297680" y="1463040"/>
            <a:ext cx="3566160" cy="4754880"/>
          </a:xfrm>
          <a:prstGeom prst="roundRect">
            <a:avLst>
              <a:gd name="adj" fmla="val 2051"/>
            </a:avLst>
          </a:prstGeom>
          <a:solidFill>
            <a:srgbClr val="152827"/>
          </a:solidFill>
          <a:ln w="12700">
            <a:solidFill>
              <a:srgbClr val="2A3D3B"/>
            </a:solidFill>
            <a:prstDash val="solid"/>
          </a:ln>
        </p:spPr>
      </p:sp>
      <p:sp>
        <p:nvSpPr>
          <p:cNvPr id="18" name="Text 15"/>
          <p:cNvSpPr/>
          <p:nvPr/>
        </p:nvSpPr>
        <p:spPr>
          <a:xfrm>
            <a:off x="4480560" y="1600200"/>
            <a:ext cx="32004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DATABASE · POSTGRESQL</a:t>
            </a:r>
            <a:endParaRPr lang="en-US" sz="1000" dirty="0"/>
          </a:p>
        </p:txBody>
      </p:sp>
      <p:sp>
        <p:nvSpPr>
          <p:cNvPr id="19" name="Shape 16"/>
          <p:cNvSpPr/>
          <p:nvPr/>
        </p:nvSpPr>
        <p:spPr>
          <a:xfrm>
            <a:off x="4480560" y="2011680"/>
            <a:ext cx="3200400" cy="457200"/>
          </a:xfrm>
          <a:prstGeom prst="roundRect">
            <a:avLst>
              <a:gd name="adj" fmla="val 16000"/>
            </a:avLst>
          </a:prstGeom>
          <a:solidFill>
            <a:srgbClr val="17392F"/>
          </a:solidFill>
          <a:ln w="12700">
            <a:solidFill>
              <a:srgbClr val="3FCB9A"/>
            </a:solidFill>
            <a:prstDash val="solid"/>
          </a:ln>
        </p:spPr>
      </p:sp>
      <p:sp>
        <p:nvSpPr>
          <p:cNvPr id="20" name="Text 17"/>
          <p:cNvSpPr/>
          <p:nvPr/>
        </p:nvSpPr>
        <p:spPr>
          <a:xfrm>
            <a:off x="4480560" y="2011680"/>
            <a:ext cx="3200400" cy="45720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Users</a:t>
            </a:r>
            <a:endParaRPr lang="en-US" sz="1300" dirty="0"/>
          </a:p>
        </p:txBody>
      </p:sp>
      <p:sp>
        <p:nvSpPr>
          <p:cNvPr id="21" name="Shape 18"/>
          <p:cNvSpPr/>
          <p:nvPr/>
        </p:nvSpPr>
        <p:spPr>
          <a:xfrm>
            <a:off x="4846320" y="2651760"/>
            <a:ext cx="2834640" cy="457200"/>
          </a:xfrm>
          <a:prstGeom prst="roundRect">
            <a:avLst>
              <a:gd name="adj" fmla="val 16000"/>
            </a:avLst>
          </a:prstGeom>
          <a:solidFill>
            <a:srgbClr val="152827"/>
          </a:solidFill>
          <a:ln w="12700">
            <a:solidFill>
              <a:srgbClr val="2A3D3B"/>
            </a:solidFill>
            <a:prstDash val="solid"/>
          </a:ln>
        </p:spPr>
      </p:sp>
      <p:sp>
        <p:nvSpPr>
          <p:cNvPr id="22" name="Text 19"/>
          <p:cNvSpPr/>
          <p:nvPr/>
        </p:nvSpPr>
        <p:spPr>
          <a:xfrm>
            <a:off x="4846320" y="2651760"/>
            <a:ext cx="2834640" cy="45720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Analysis History</a:t>
            </a:r>
            <a:endParaRPr lang="en-US" sz="1300" dirty="0"/>
          </a:p>
        </p:txBody>
      </p:sp>
      <p:sp>
        <p:nvSpPr>
          <p:cNvPr id="23" name="Shape 20"/>
          <p:cNvSpPr/>
          <p:nvPr/>
        </p:nvSpPr>
        <p:spPr>
          <a:xfrm>
            <a:off x="4846320" y="3246120"/>
            <a:ext cx="2834640" cy="457200"/>
          </a:xfrm>
          <a:prstGeom prst="roundRect">
            <a:avLst>
              <a:gd name="adj" fmla="val 16000"/>
            </a:avLst>
          </a:prstGeom>
          <a:solidFill>
            <a:srgbClr val="152827"/>
          </a:solidFill>
          <a:ln w="12700">
            <a:solidFill>
              <a:srgbClr val="2A3D3B"/>
            </a:solidFill>
            <a:prstDash val="solid"/>
          </a:ln>
        </p:spPr>
      </p:sp>
      <p:sp>
        <p:nvSpPr>
          <p:cNvPr id="24" name="Text 21"/>
          <p:cNvSpPr/>
          <p:nvPr/>
        </p:nvSpPr>
        <p:spPr>
          <a:xfrm>
            <a:off x="4846320" y="3246120"/>
            <a:ext cx="2834640" cy="45720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Recommendations</a:t>
            </a:r>
            <a:endParaRPr lang="en-US" sz="1300" dirty="0"/>
          </a:p>
        </p:txBody>
      </p:sp>
      <p:sp>
        <p:nvSpPr>
          <p:cNvPr id="25" name="Shape 22"/>
          <p:cNvSpPr/>
          <p:nvPr/>
        </p:nvSpPr>
        <p:spPr>
          <a:xfrm>
            <a:off x="5212080" y="3840480"/>
            <a:ext cx="2468880" cy="457200"/>
          </a:xfrm>
          <a:prstGeom prst="roundRect">
            <a:avLst>
              <a:gd name="adj" fmla="val 16000"/>
            </a:avLst>
          </a:prstGeom>
          <a:solidFill>
            <a:srgbClr val="152827"/>
          </a:solidFill>
          <a:ln w="12700">
            <a:solidFill>
              <a:srgbClr val="2A3D3B"/>
            </a:solidFill>
            <a:prstDash val="solid"/>
          </a:ln>
        </p:spPr>
      </p:sp>
      <p:sp>
        <p:nvSpPr>
          <p:cNvPr id="26" name="Text 23"/>
          <p:cNvSpPr/>
          <p:nvPr/>
        </p:nvSpPr>
        <p:spPr>
          <a:xfrm>
            <a:off x="5212080" y="3840480"/>
            <a:ext cx="2468880" cy="45720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Commodity</a:t>
            </a:r>
            <a:endParaRPr lang="en-US" sz="1300" dirty="0"/>
          </a:p>
        </p:txBody>
      </p:sp>
      <p:sp>
        <p:nvSpPr>
          <p:cNvPr id="27" name="Shape 24"/>
          <p:cNvSpPr/>
          <p:nvPr/>
        </p:nvSpPr>
        <p:spPr>
          <a:xfrm>
            <a:off x="5212080" y="4434840"/>
            <a:ext cx="2468880" cy="457200"/>
          </a:xfrm>
          <a:prstGeom prst="roundRect">
            <a:avLst>
              <a:gd name="adj" fmla="val 16000"/>
            </a:avLst>
          </a:prstGeom>
          <a:solidFill>
            <a:srgbClr val="152827"/>
          </a:solidFill>
          <a:ln w="12700">
            <a:solidFill>
              <a:srgbClr val="2A3D3B"/>
            </a:solidFill>
            <a:prstDash val="solid"/>
          </a:ln>
        </p:spPr>
      </p:sp>
      <p:sp>
        <p:nvSpPr>
          <p:cNvPr id="28" name="Text 25"/>
          <p:cNvSpPr/>
          <p:nvPr/>
        </p:nvSpPr>
        <p:spPr>
          <a:xfrm>
            <a:off x="5212080" y="4434840"/>
            <a:ext cx="2468880" cy="45720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Packaging Material</a:t>
            </a:r>
            <a:endParaRPr lang="en-US" sz="1300" dirty="0"/>
          </a:p>
        </p:txBody>
      </p:sp>
      <p:sp>
        <p:nvSpPr>
          <p:cNvPr id="29" name="Shape 26"/>
          <p:cNvSpPr/>
          <p:nvPr/>
        </p:nvSpPr>
        <p:spPr>
          <a:xfrm>
            <a:off x="4480560" y="5303520"/>
            <a:ext cx="3200400" cy="685800"/>
          </a:xfrm>
          <a:prstGeom prst="roundRect">
            <a:avLst>
              <a:gd name="adj" fmla="val 10667"/>
            </a:avLst>
          </a:prstGeom>
          <a:solidFill>
            <a:srgbClr val="152827"/>
          </a:solidFill>
          <a:ln w="12700">
            <a:solidFill>
              <a:srgbClr val="BDEBD6"/>
            </a:solidFill>
            <a:prstDash val="solid"/>
          </a:ln>
        </p:spPr>
      </p:sp>
      <p:sp>
        <p:nvSpPr>
          <p:cNvPr id="30" name="Text 27"/>
          <p:cNvSpPr/>
          <p:nvPr/>
        </p:nvSpPr>
        <p:spPr>
          <a:xfrm>
            <a:off x="4480560" y="5303520"/>
            <a:ext cx="3200400" cy="685800"/>
          </a:xfrm>
          <a:prstGeom prst="rect">
            <a:avLst/>
          </a:prstGeom>
          <a:noFill/>
          <a:ln/>
        </p:spPr>
        <p:txBody>
          <a:bodyPr wrap="square" lIns="50800" tIns="50800" rIns="50800" bIns="50800" rtlCol="0" anchor="ctr"/>
          <a:lstStyle/>
          <a:p>
            <a:pPr algn="ctr" indent="0" marL="0">
              <a:buNone/>
            </a:pPr>
            <a:r>
              <a:rPr lang="en-US" sz="1200" dirty="0">
                <a:solidFill>
                  <a:srgbClr val="BDEBD6"/>
                </a:solidFill>
                <a:latin typeface="Calibri" pitchFamily="34" charset="0"/>
                <a:ea typeface="Calibri" pitchFamily="34" charset="-122"/>
                <a:cs typeface="Calibri" pitchFamily="34" charset="-120"/>
              </a:rPr>
              <a:t>Qdrant Cloud — Scientific knowledge retrieval</a:t>
            </a:r>
            <a:endParaRPr lang="en-US" sz="1200" dirty="0"/>
          </a:p>
        </p:txBody>
      </p:sp>
      <p:sp>
        <p:nvSpPr>
          <p:cNvPr id="31" name="Shape 28"/>
          <p:cNvSpPr/>
          <p:nvPr/>
        </p:nvSpPr>
        <p:spPr>
          <a:xfrm>
            <a:off x="8046720" y="1463040"/>
            <a:ext cx="3566160" cy="4754880"/>
          </a:xfrm>
          <a:prstGeom prst="roundRect">
            <a:avLst>
              <a:gd name="adj" fmla="val 2051"/>
            </a:avLst>
          </a:prstGeom>
          <a:solidFill>
            <a:srgbClr val="152827"/>
          </a:solidFill>
          <a:ln w="12700">
            <a:solidFill>
              <a:srgbClr val="2A3D3B"/>
            </a:solidFill>
            <a:prstDash val="solid"/>
          </a:ln>
        </p:spPr>
      </p:sp>
      <p:sp>
        <p:nvSpPr>
          <p:cNvPr id="32" name="Text 29"/>
          <p:cNvSpPr/>
          <p:nvPr/>
        </p:nvSpPr>
        <p:spPr>
          <a:xfrm>
            <a:off x="8229600" y="1600200"/>
            <a:ext cx="32004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USER EXPERIENCE · PROTOTYPE UI</a:t>
            </a:r>
            <a:endParaRPr lang="en-US" sz="1000" dirty="0"/>
          </a:p>
        </p:txBody>
      </p:sp>
      <p:sp>
        <p:nvSpPr>
          <p:cNvPr id="33" name="Text 30"/>
          <p:cNvSpPr/>
          <p:nvPr/>
        </p:nvSpPr>
        <p:spPr>
          <a:xfrm>
            <a:off x="8229600" y="2011680"/>
            <a:ext cx="1554480" cy="365760"/>
          </a:xfrm>
          <a:prstGeom prst="rect">
            <a:avLst/>
          </a:prstGeom>
          <a:noFill/>
          <a:ln/>
        </p:spPr>
        <p:txBody>
          <a:bodyPr wrap="square" rtlCol="0" anchor="ctr"/>
          <a:lstStyle/>
          <a:p>
            <a:pPr indent="0" marL="0">
              <a:buNone/>
            </a:pPr>
            <a:r>
              <a:rPr lang="en-US" sz="1300" dirty="0">
                <a:solidFill>
                  <a:srgbClr val="9AB5AE"/>
                </a:solidFill>
                <a:latin typeface="Calibri" pitchFamily="34" charset="0"/>
                <a:ea typeface="Calibri" pitchFamily="34" charset="-122"/>
                <a:cs typeface="Calibri" pitchFamily="34" charset="-120"/>
              </a:rPr>
              <a:t>Commodity</a:t>
            </a:r>
            <a:endParaRPr lang="en-US" sz="1300" dirty="0"/>
          </a:p>
        </p:txBody>
      </p:sp>
      <p:sp>
        <p:nvSpPr>
          <p:cNvPr id="34" name="Text 31"/>
          <p:cNvSpPr/>
          <p:nvPr/>
        </p:nvSpPr>
        <p:spPr>
          <a:xfrm>
            <a:off x="9784080" y="2011680"/>
            <a:ext cx="1645920" cy="365760"/>
          </a:xfrm>
          <a:prstGeom prst="rect">
            <a:avLst/>
          </a:prstGeom>
          <a:noFill/>
          <a:ln/>
        </p:spPr>
        <p:txBody>
          <a:bodyPr wrap="square" rtlCol="0" anchor="ctr"/>
          <a:lstStyle/>
          <a:p>
            <a:pPr algn="r" indent="0" marL="0">
              <a:buNone/>
            </a:pPr>
            <a:r>
              <a:rPr lang="en-US" sz="1300" dirty="0">
                <a:solidFill>
                  <a:srgbClr val="EFF7F3"/>
                </a:solidFill>
                <a:latin typeface="Calibri" pitchFamily="34" charset="0"/>
                <a:ea typeface="Calibri" pitchFamily="34" charset="-122"/>
                <a:cs typeface="Calibri" pitchFamily="34" charset="-120"/>
              </a:rPr>
              <a:t>Strawberry</a:t>
            </a:r>
            <a:endParaRPr lang="en-US" sz="1300" dirty="0"/>
          </a:p>
        </p:txBody>
      </p:sp>
      <p:sp>
        <p:nvSpPr>
          <p:cNvPr id="35" name="Text 32"/>
          <p:cNvSpPr/>
          <p:nvPr/>
        </p:nvSpPr>
        <p:spPr>
          <a:xfrm>
            <a:off x="8229600" y="2468880"/>
            <a:ext cx="1554480" cy="365760"/>
          </a:xfrm>
          <a:prstGeom prst="rect">
            <a:avLst/>
          </a:prstGeom>
          <a:noFill/>
          <a:ln/>
        </p:spPr>
        <p:txBody>
          <a:bodyPr wrap="square" rtlCol="0" anchor="ctr"/>
          <a:lstStyle/>
          <a:p>
            <a:pPr indent="0" marL="0">
              <a:buNone/>
            </a:pPr>
            <a:r>
              <a:rPr lang="en-US" sz="1300" dirty="0">
                <a:solidFill>
                  <a:srgbClr val="9AB5AE"/>
                </a:solidFill>
                <a:latin typeface="Calibri" pitchFamily="34" charset="0"/>
                <a:ea typeface="Calibri" pitchFamily="34" charset="-122"/>
                <a:cs typeface="Calibri" pitchFamily="34" charset="-120"/>
              </a:rPr>
              <a:t>Temperature</a:t>
            </a:r>
            <a:endParaRPr lang="en-US" sz="1300" dirty="0"/>
          </a:p>
        </p:txBody>
      </p:sp>
      <p:sp>
        <p:nvSpPr>
          <p:cNvPr id="36" name="Text 33"/>
          <p:cNvSpPr/>
          <p:nvPr/>
        </p:nvSpPr>
        <p:spPr>
          <a:xfrm>
            <a:off x="9784080" y="2468880"/>
            <a:ext cx="1645920" cy="365760"/>
          </a:xfrm>
          <a:prstGeom prst="rect">
            <a:avLst/>
          </a:prstGeom>
          <a:noFill/>
          <a:ln/>
        </p:spPr>
        <p:txBody>
          <a:bodyPr wrap="square" rtlCol="0" anchor="ctr"/>
          <a:lstStyle/>
          <a:p>
            <a:pPr algn="r" indent="0" marL="0">
              <a:buNone/>
            </a:pPr>
            <a:r>
              <a:rPr lang="en-US" sz="1300" dirty="0">
                <a:solidFill>
                  <a:srgbClr val="EFF7F3"/>
                </a:solidFill>
                <a:latin typeface="Calibri" pitchFamily="34" charset="0"/>
                <a:ea typeface="Calibri" pitchFamily="34" charset="-122"/>
                <a:cs typeface="Calibri" pitchFamily="34" charset="-120"/>
              </a:rPr>
              <a:t>4 °C</a:t>
            </a:r>
            <a:endParaRPr lang="en-US" sz="1300" dirty="0"/>
          </a:p>
        </p:txBody>
      </p:sp>
      <p:sp>
        <p:nvSpPr>
          <p:cNvPr id="37" name="Text 34"/>
          <p:cNvSpPr/>
          <p:nvPr/>
        </p:nvSpPr>
        <p:spPr>
          <a:xfrm>
            <a:off x="8229600" y="2926080"/>
            <a:ext cx="1554480" cy="365760"/>
          </a:xfrm>
          <a:prstGeom prst="rect">
            <a:avLst/>
          </a:prstGeom>
          <a:noFill/>
          <a:ln/>
        </p:spPr>
        <p:txBody>
          <a:bodyPr wrap="square" rtlCol="0" anchor="ctr"/>
          <a:lstStyle/>
          <a:p>
            <a:pPr indent="0" marL="0">
              <a:buNone/>
            </a:pPr>
            <a:r>
              <a:rPr lang="en-US" sz="1300" dirty="0">
                <a:solidFill>
                  <a:srgbClr val="9AB5AE"/>
                </a:solidFill>
                <a:latin typeface="Calibri" pitchFamily="34" charset="0"/>
                <a:ea typeface="Calibri" pitchFamily="34" charset="-122"/>
                <a:cs typeface="Calibri" pitchFamily="34" charset="-120"/>
              </a:rPr>
              <a:t>Humidity</a:t>
            </a:r>
            <a:endParaRPr lang="en-US" sz="1300" dirty="0"/>
          </a:p>
        </p:txBody>
      </p:sp>
      <p:sp>
        <p:nvSpPr>
          <p:cNvPr id="38" name="Text 35"/>
          <p:cNvSpPr/>
          <p:nvPr/>
        </p:nvSpPr>
        <p:spPr>
          <a:xfrm>
            <a:off x="9784080" y="2926080"/>
            <a:ext cx="1645920" cy="365760"/>
          </a:xfrm>
          <a:prstGeom prst="rect">
            <a:avLst/>
          </a:prstGeom>
          <a:noFill/>
          <a:ln/>
        </p:spPr>
        <p:txBody>
          <a:bodyPr wrap="square" rtlCol="0" anchor="ctr"/>
          <a:lstStyle/>
          <a:p>
            <a:pPr algn="r" indent="0" marL="0">
              <a:buNone/>
            </a:pPr>
            <a:r>
              <a:rPr lang="en-US" sz="1300" dirty="0">
                <a:solidFill>
                  <a:srgbClr val="EFF7F3"/>
                </a:solidFill>
                <a:latin typeface="Calibri" pitchFamily="34" charset="0"/>
                <a:ea typeface="Calibri" pitchFamily="34" charset="-122"/>
                <a:cs typeface="Calibri" pitchFamily="34" charset="-120"/>
              </a:rPr>
              <a:t>85 %</a:t>
            </a:r>
            <a:endParaRPr lang="en-US" sz="1300" dirty="0"/>
          </a:p>
        </p:txBody>
      </p:sp>
      <p:sp>
        <p:nvSpPr>
          <p:cNvPr id="39" name="Text 36"/>
          <p:cNvSpPr/>
          <p:nvPr/>
        </p:nvSpPr>
        <p:spPr>
          <a:xfrm>
            <a:off x="8229600" y="3383280"/>
            <a:ext cx="1554480" cy="365760"/>
          </a:xfrm>
          <a:prstGeom prst="rect">
            <a:avLst/>
          </a:prstGeom>
          <a:noFill/>
          <a:ln/>
        </p:spPr>
        <p:txBody>
          <a:bodyPr wrap="square" rtlCol="0" anchor="ctr"/>
          <a:lstStyle/>
          <a:p>
            <a:pPr indent="0" marL="0">
              <a:buNone/>
            </a:pPr>
            <a:r>
              <a:rPr lang="en-US" sz="1300" dirty="0">
                <a:solidFill>
                  <a:srgbClr val="9AB5AE"/>
                </a:solidFill>
                <a:latin typeface="Calibri" pitchFamily="34" charset="0"/>
                <a:ea typeface="Calibri" pitchFamily="34" charset="-122"/>
                <a:cs typeface="Calibri" pitchFamily="34" charset="-120"/>
              </a:rPr>
              <a:t>Shelf Life</a:t>
            </a:r>
            <a:endParaRPr lang="en-US" sz="1300" dirty="0"/>
          </a:p>
        </p:txBody>
      </p:sp>
      <p:sp>
        <p:nvSpPr>
          <p:cNvPr id="40" name="Text 37"/>
          <p:cNvSpPr/>
          <p:nvPr/>
        </p:nvSpPr>
        <p:spPr>
          <a:xfrm>
            <a:off x="9784080" y="3383280"/>
            <a:ext cx="1645920" cy="365760"/>
          </a:xfrm>
          <a:prstGeom prst="rect">
            <a:avLst/>
          </a:prstGeom>
          <a:noFill/>
          <a:ln/>
        </p:spPr>
        <p:txBody>
          <a:bodyPr wrap="square" rtlCol="0" anchor="ctr"/>
          <a:lstStyle/>
          <a:p>
            <a:pPr algn="r" indent="0" marL="0">
              <a:buNone/>
            </a:pPr>
            <a:r>
              <a:rPr lang="en-US" sz="1300" dirty="0">
                <a:solidFill>
                  <a:srgbClr val="EFF7F3"/>
                </a:solidFill>
                <a:latin typeface="Calibri" pitchFamily="34" charset="0"/>
                <a:ea typeface="Calibri" pitchFamily="34" charset="-122"/>
                <a:cs typeface="Calibri" pitchFamily="34" charset="-120"/>
              </a:rPr>
              <a:t>7 days</a:t>
            </a:r>
            <a:endParaRPr lang="en-US" sz="1300" dirty="0"/>
          </a:p>
        </p:txBody>
      </p:sp>
      <p:sp>
        <p:nvSpPr>
          <p:cNvPr id="41" name="Shape 38"/>
          <p:cNvSpPr/>
          <p:nvPr/>
        </p:nvSpPr>
        <p:spPr>
          <a:xfrm>
            <a:off x="8229600" y="3931920"/>
            <a:ext cx="3200400" cy="457200"/>
          </a:xfrm>
          <a:prstGeom prst="roundRect">
            <a:avLst>
              <a:gd name="adj" fmla="val 16000"/>
            </a:avLst>
          </a:prstGeom>
          <a:solidFill>
            <a:srgbClr val="3FCB9A"/>
          </a:solidFill>
          <a:ln w="12700">
            <a:solidFill>
              <a:srgbClr val="3FCB9A"/>
            </a:solidFill>
            <a:prstDash val="solid"/>
          </a:ln>
        </p:spPr>
      </p:sp>
      <p:sp>
        <p:nvSpPr>
          <p:cNvPr id="42" name="Text 39"/>
          <p:cNvSpPr/>
          <p:nvPr/>
        </p:nvSpPr>
        <p:spPr>
          <a:xfrm>
            <a:off x="8229600" y="3931920"/>
            <a:ext cx="3200400" cy="457200"/>
          </a:xfrm>
          <a:prstGeom prst="rect">
            <a:avLst/>
          </a:prstGeom>
          <a:noFill/>
          <a:ln/>
        </p:spPr>
        <p:txBody>
          <a:bodyPr wrap="square" lIns="50800" tIns="50800" rIns="50800" bIns="50800" rtlCol="0" anchor="ctr"/>
          <a:lstStyle/>
          <a:p>
            <a:pPr algn="ctr" indent="0" marL="0">
              <a:buNone/>
            </a:pPr>
            <a:r>
              <a:rPr lang="en-US" sz="1300" b="1" dirty="0">
                <a:solidFill>
                  <a:srgbClr val="0C1D1D"/>
                </a:solidFill>
                <a:latin typeface="Calibri" pitchFamily="34" charset="0"/>
                <a:ea typeface="Calibri" pitchFamily="34" charset="-122"/>
                <a:cs typeface="Calibri" pitchFamily="34" charset="-120"/>
              </a:rPr>
              <a:t>ANALYZE</a:t>
            </a:r>
            <a:endParaRPr lang="en-US" sz="1300" dirty="0"/>
          </a:p>
        </p:txBody>
      </p:sp>
      <p:sp>
        <p:nvSpPr>
          <p:cNvPr id="43" name="Text 40"/>
          <p:cNvSpPr/>
          <p:nvPr/>
        </p:nvSpPr>
        <p:spPr>
          <a:xfrm>
            <a:off x="8229600" y="4572000"/>
            <a:ext cx="3200400" cy="274320"/>
          </a:xfrm>
          <a:prstGeom prst="rect">
            <a:avLst/>
          </a:prstGeom>
          <a:noFill/>
          <a:ln/>
        </p:spPr>
        <p:txBody>
          <a:bodyPr wrap="square" rtlCol="0" anchor="ctr"/>
          <a:lstStyle/>
          <a:p>
            <a:pPr indent="0" marL="0">
              <a:buNone/>
            </a:pPr>
            <a:r>
              <a:rPr lang="en-US" sz="1100" dirty="0">
                <a:solidFill>
                  <a:srgbClr val="9AB5AE"/>
                </a:solidFill>
                <a:latin typeface="Calibri" pitchFamily="34" charset="0"/>
                <a:ea typeface="Calibri" pitchFamily="34" charset="-122"/>
                <a:cs typeface="Calibri" pitchFamily="34" charset="-120"/>
              </a:rPr>
              <a:t>Recommended</a:t>
            </a:r>
            <a:endParaRPr lang="en-US" sz="1100" dirty="0"/>
          </a:p>
        </p:txBody>
      </p:sp>
      <p:sp>
        <p:nvSpPr>
          <p:cNvPr id="44" name="Text 41"/>
          <p:cNvSpPr/>
          <p:nvPr/>
        </p:nvSpPr>
        <p:spPr>
          <a:xfrm>
            <a:off x="8229600" y="4846320"/>
            <a:ext cx="3200400" cy="365760"/>
          </a:xfrm>
          <a:prstGeom prst="rect">
            <a:avLst/>
          </a:prstGeom>
          <a:noFill/>
          <a:ln/>
        </p:spPr>
        <p:txBody>
          <a:bodyPr wrap="square" rtlCol="0" anchor="ctr"/>
          <a:lstStyle/>
          <a:p>
            <a:pPr indent="0" marL="0">
              <a:buNone/>
            </a:pPr>
            <a:r>
              <a:rPr lang="en-US" sz="1500" b="1" dirty="0">
                <a:solidFill>
                  <a:srgbClr val="EFF7F3"/>
                </a:solidFill>
                <a:latin typeface="Calibri" pitchFamily="34" charset="0"/>
                <a:ea typeface="Calibri" pitchFamily="34" charset="-122"/>
                <a:cs typeface="Calibri" pitchFamily="34" charset="-120"/>
              </a:rPr>
              <a:t>Micro-perforated Film</a:t>
            </a:r>
            <a:endParaRPr lang="en-US" sz="1500" dirty="0"/>
          </a:p>
        </p:txBody>
      </p:sp>
      <p:sp>
        <p:nvSpPr>
          <p:cNvPr id="45" name="Shape 42"/>
          <p:cNvSpPr/>
          <p:nvPr/>
        </p:nvSpPr>
        <p:spPr>
          <a:xfrm>
            <a:off x="8229600" y="5349240"/>
            <a:ext cx="2560320" cy="128016"/>
          </a:xfrm>
          <a:prstGeom prst="roundRect">
            <a:avLst>
              <a:gd name="adj" fmla="val 50000"/>
            </a:avLst>
          </a:prstGeom>
          <a:solidFill>
            <a:srgbClr val="2A3D3B"/>
          </a:solidFill>
          <a:ln w="12700">
            <a:solidFill>
              <a:srgbClr val="2A3D3B"/>
            </a:solidFill>
            <a:prstDash val="solid"/>
          </a:ln>
        </p:spPr>
      </p:sp>
      <p:sp>
        <p:nvSpPr>
          <p:cNvPr id="46" name="Shape 43"/>
          <p:cNvSpPr/>
          <p:nvPr/>
        </p:nvSpPr>
        <p:spPr>
          <a:xfrm>
            <a:off x="8229600" y="5349240"/>
            <a:ext cx="2331720" cy="128016"/>
          </a:xfrm>
          <a:prstGeom prst="roundRect">
            <a:avLst>
              <a:gd name="adj" fmla="val 50000"/>
            </a:avLst>
          </a:prstGeom>
          <a:solidFill>
            <a:srgbClr val="3FCB9A"/>
          </a:solidFill>
          <a:ln w="12700">
            <a:solidFill>
              <a:srgbClr val="3FCB9A"/>
            </a:solidFill>
            <a:prstDash val="solid"/>
          </a:ln>
        </p:spPr>
      </p:sp>
      <p:sp>
        <p:nvSpPr>
          <p:cNvPr id="47" name="Text 44"/>
          <p:cNvSpPr/>
          <p:nvPr/>
        </p:nvSpPr>
        <p:spPr>
          <a:xfrm>
            <a:off x="10835640" y="5230368"/>
            <a:ext cx="64008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91%*</a:t>
            </a:r>
            <a:endParaRPr lang="en-US" sz="1200" dirty="0"/>
          </a:p>
        </p:txBody>
      </p:sp>
      <p:sp>
        <p:nvSpPr>
          <p:cNvPr id="48" name="Text 45"/>
          <p:cNvSpPr/>
          <p:nvPr/>
        </p:nvSpPr>
        <p:spPr>
          <a:xfrm>
            <a:off x="8229600" y="5669280"/>
            <a:ext cx="3200400" cy="274320"/>
          </a:xfrm>
          <a:prstGeom prst="rect">
            <a:avLst/>
          </a:prstGeom>
          <a:noFill/>
          <a:ln/>
        </p:spPr>
        <p:txBody>
          <a:bodyPr wrap="square" rtlCol="0" anchor="ctr"/>
          <a:lstStyle/>
          <a:p>
            <a:pPr indent="0" marL="0">
              <a:buNone/>
            </a:pPr>
            <a:r>
              <a:rPr lang="en-US" sz="1000" dirty="0">
                <a:solidFill>
                  <a:srgbClr val="F0B24A"/>
                </a:solidFill>
                <a:latin typeface="Calibri" pitchFamily="34" charset="0"/>
                <a:ea typeface="Calibri" pitchFamily="34" charset="-122"/>
                <a:cs typeface="Calibri" pitchFamily="34" charset="-120"/>
              </a:rPr>
              <a:t>*Illustrative compatibility score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D1D"/>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100" b="1" spc="300" kern="0" dirty="0">
                <a:solidFill>
                  <a:srgbClr val="3FCB9A"/>
                </a:solidFill>
                <a:latin typeface="Calibri" pitchFamily="34" charset="0"/>
                <a:ea typeface="Calibri" pitchFamily="34" charset="-122"/>
                <a:cs typeface="Calibri" pitchFamily="34" charset="-120"/>
              </a:rPr>
              <a:t>08 · IMPACT &amp; ROADMAP</a:t>
            </a:r>
            <a:endParaRPr lang="en-US" sz="1100" dirty="0"/>
          </a:p>
        </p:txBody>
      </p:sp>
      <p:sp>
        <p:nvSpPr>
          <p:cNvPr id="3" name="Text 1"/>
          <p:cNvSpPr/>
          <p:nvPr/>
        </p:nvSpPr>
        <p:spPr>
          <a:xfrm>
            <a:off x="548640" y="594360"/>
            <a:ext cx="10972800" cy="640080"/>
          </a:xfrm>
          <a:prstGeom prst="rect">
            <a:avLst/>
          </a:prstGeom>
          <a:noFill/>
          <a:ln/>
        </p:spPr>
        <p:txBody>
          <a:bodyPr wrap="square" rtlCol="0" anchor="ctr"/>
          <a:lstStyle/>
          <a:p>
            <a:pPr indent="0" marL="0">
              <a:buNone/>
            </a:pPr>
            <a:r>
              <a:rPr lang="en-US" sz="3000" b="1" dirty="0">
                <a:solidFill>
                  <a:srgbClr val="EFF7F3"/>
                </a:solidFill>
                <a:latin typeface="Calibri" pitchFamily="34" charset="0"/>
                <a:ea typeface="Calibri" pitchFamily="34" charset="-122"/>
                <a:cs typeface="Calibri" pitchFamily="34" charset="-120"/>
              </a:rPr>
              <a:t>Impact, Contribution &amp; Future Roadmap</a:t>
            </a:r>
            <a:endParaRPr lang="en-US" sz="3000" dirty="0"/>
          </a:p>
        </p:txBody>
      </p:sp>
      <p:sp>
        <p:nvSpPr>
          <p:cNvPr id="4" name="Text 2"/>
          <p:cNvSpPr/>
          <p:nvPr/>
        </p:nvSpPr>
        <p:spPr>
          <a:xfrm>
            <a:off x="548640" y="1188720"/>
            <a:ext cx="10972800" cy="365760"/>
          </a:xfrm>
          <a:prstGeom prst="rect">
            <a:avLst/>
          </a:prstGeom>
          <a:noFill/>
          <a:ln/>
        </p:spPr>
        <p:txBody>
          <a:bodyPr wrap="square" rtlCol="0" anchor="ctr"/>
          <a:lstStyle/>
          <a:p>
            <a:pPr indent="0" marL="0">
              <a:buNone/>
            </a:pPr>
            <a:r>
              <a:rPr lang="en-US" sz="1500" dirty="0">
                <a:solidFill>
                  <a:srgbClr val="9AB5AE"/>
                </a:solidFill>
                <a:latin typeface="Calibri" pitchFamily="34" charset="0"/>
                <a:ea typeface="Calibri" pitchFamily="34" charset="-122"/>
                <a:cs typeface="Calibri" pitchFamily="34" charset="-120"/>
              </a:rPr>
              <a:t>Building a scalable bridge between food science and AI</a:t>
            </a:r>
            <a:endParaRPr lang="en-US" sz="1500" dirty="0"/>
          </a:p>
        </p:txBody>
      </p:sp>
      <p:sp>
        <p:nvSpPr>
          <p:cNvPr id="5" name="Text 3"/>
          <p:cNvSpPr/>
          <p:nvPr/>
        </p:nvSpPr>
        <p:spPr>
          <a:xfrm>
            <a:off x="10241280" y="6400800"/>
            <a:ext cx="1463040" cy="274320"/>
          </a:xfrm>
          <a:prstGeom prst="rect">
            <a:avLst/>
          </a:prstGeom>
          <a:noFill/>
          <a:ln/>
        </p:spPr>
        <p:txBody>
          <a:bodyPr wrap="square" rtlCol="0" anchor="ctr"/>
          <a:lstStyle/>
          <a:p>
            <a:pPr algn="r" indent="0" marL="0">
              <a:buNone/>
            </a:pPr>
            <a:r>
              <a:rPr lang="en-US" sz="1000" dirty="0">
                <a:solidFill>
                  <a:srgbClr val="9AB5AE"/>
                </a:solidFill>
                <a:latin typeface="Calibri" pitchFamily="34" charset="0"/>
                <a:ea typeface="Calibri" pitchFamily="34" charset="-122"/>
                <a:cs typeface="Calibri" pitchFamily="34" charset="-120"/>
              </a:rPr>
              <a:t>PackSci AI</a:t>
            </a:r>
            <a:endParaRPr lang="en-US" sz="1000" dirty="0"/>
          </a:p>
        </p:txBody>
      </p:sp>
      <p:sp>
        <p:nvSpPr>
          <p:cNvPr id="7" name="Text 4"/>
          <p:cNvSpPr/>
          <p:nvPr/>
        </p:nvSpPr>
        <p:spPr>
          <a:xfrm>
            <a:off x="548640" y="1783080"/>
            <a:ext cx="36576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CONTRIBUTION</a:t>
            </a:r>
            <a:endParaRPr lang="en-US" sz="1000" dirty="0"/>
          </a:p>
        </p:txBody>
      </p:sp>
      <p:sp>
        <p:nvSpPr>
          <p:cNvPr id="8" name="Shape 5"/>
          <p:cNvSpPr/>
          <p:nvPr/>
        </p:nvSpPr>
        <p:spPr>
          <a:xfrm>
            <a:off x="548640" y="2148840"/>
            <a:ext cx="3566160" cy="502920"/>
          </a:xfrm>
          <a:prstGeom prst="roundRect">
            <a:avLst>
              <a:gd name="adj" fmla="val 14545"/>
            </a:avLst>
          </a:prstGeom>
          <a:solidFill>
            <a:srgbClr val="152827"/>
          </a:solidFill>
          <a:ln w="12700">
            <a:solidFill>
              <a:srgbClr val="2A3D3B"/>
            </a:solidFill>
            <a:prstDash val="solid"/>
          </a:ln>
        </p:spPr>
      </p:sp>
      <p:sp>
        <p:nvSpPr>
          <p:cNvPr id="9" name="Text 6"/>
          <p:cNvSpPr/>
          <p:nvPr/>
        </p:nvSpPr>
        <p:spPr>
          <a:xfrm>
            <a:off x="548640" y="2148840"/>
            <a:ext cx="3566160" cy="50292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AI-assisted material selection</a:t>
            </a:r>
            <a:endParaRPr lang="en-US" sz="1300" dirty="0"/>
          </a:p>
        </p:txBody>
      </p:sp>
      <p:sp>
        <p:nvSpPr>
          <p:cNvPr id="10" name="Shape 7"/>
          <p:cNvSpPr/>
          <p:nvPr/>
        </p:nvSpPr>
        <p:spPr>
          <a:xfrm>
            <a:off x="548640" y="2770632"/>
            <a:ext cx="3566160" cy="502920"/>
          </a:xfrm>
          <a:prstGeom prst="roundRect">
            <a:avLst>
              <a:gd name="adj" fmla="val 14545"/>
            </a:avLst>
          </a:prstGeom>
          <a:solidFill>
            <a:srgbClr val="152827"/>
          </a:solidFill>
          <a:ln w="12700">
            <a:solidFill>
              <a:srgbClr val="2A3D3B"/>
            </a:solidFill>
            <a:prstDash val="solid"/>
          </a:ln>
        </p:spPr>
      </p:sp>
      <p:sp>
        <p:nvSpPr>
          <p:cNvPr id="11" name="Text 8"/>
          <p:cNvSpPr/>
          <p:nvPr/>
        </p:nvSpPr>
        <p:spPr>
          <a:xfrm>
            <a:off x="548640" y="2770632"/>
            <a:ext cx="3566160" cy="50292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Engineering-based scoring</a:t>
            </a:r>
            <a:endParaRPr lang="en-US" sz="1300" dirty="0"/>
          </a:p>
        </p:txBody>
      </p:sp>
      <p:sp>
        <p:nvSpPr>
          <p:cNvPr id="12" name="Shape 9"/>
          <p:cNvSpPr/>
          <p:nvPr/>
        </p:nvSpPr>
        <p:spPr>
          <a:xfrm>
            <a:off x="548640" y="3392424"/>
            <a:ext cx="3566160" cy="502920"/>
          </a:xfrm>
          <a:prstGeom prst="roundRect">
            <a:avLst>
              <a:gd name="adj" fmla="val 14545"/>
            </a:avLst>
          </a:prstGeom>
          <a:solidFill>
            <a:srgbClr val="152827"/>
          </a:solidFill>
          <a:ln w="12700">
            <a:solidFill>
              <a:srgbClr val="2A3D3B"/>
            </a:solidFill>
            <a:prstDash val="solid"/>
          </a:ln>
        </p:spPr>
      </p:sp>
      <p:sp>
        <p:nvSpPr>
          <p:cNvPr id="13" name="Text 10"/>
          <p:cNvSpPr/>
          <p:nvPr/>
        </p:nvSpPr>
        <p:spPr>
          <a:xfrm>
            <a:off x="548640" y="3392424"/>
            <a:ext cx="3566160" cy="50292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RAG-grounded scientific explanation</a:t>
            </a:r>
            <a:endParaRPr lang="en-US" sz="1300" dirty="0"/>
          </a:p>
        </p:txBody>
      </p:sp>
      <p:sp>
        <p:nvSpPr>
          <p:cNvPr id="14" name="Shape 11"/>
          <p:cNvSpPr/>
          <p:nvPr/>
        </p:nvSpPr>
        <p:spPr>
          <a:xfrm>
            <a:off x="548640" y="4014216"/>
            <a:ext cx="3566160" cy="502920"/>
          </a:xfrm>
          <a:prstGeom prst="roundRect">
            <a:avLst>
              <a:gd name="adj" fmla="val 14545"/>
            </a:avLst>
          </a:prstGeom>
          <a:solidFill>
            <a:srgbClr val="152827"/>
          </a:solidFill>
          <a:ln w="12700">
            <a:solidFill>
              <a:srgbClr val="2A3D3B"/>
            </a:solidFill>
            <a:prstDash val="solid"/>
          </a:ln>
        </p:spPr>
      </p:sp>
      <p:sp>
        <p:nvSpPr>
          <p:cNvPr id="15" name="Text 12"/>
          <p:cNvSpPr/>
          <p:nvPr/>
        </p:nvSpPr>
        <p:spPr>
          <a:xfrm>
            <a:off x="548640" y="4014216"/>
            <a:ext cx="3566160" cy="502920"/>
          </a:xfrm>
          <a:prstGeom prst="rect">
            <a:avLst/>
          </a:prstGeom>
          <a:noFill/>
          <a:ln/>
        </p:spPr>
        <p:txBody>
          <a:bodyPr wrap="square" lIns="50800" tIns="50800" rIns="50800" bIns="50800" rtlCol="0" anchor="ctr"/>
          <a:lstStyle/>
          <a:p>
            <a:pPr algn="ctr" indent="0" marL="0">
              <a:buNone/>
            </a:pPr>
            <a:r>
              <a:rPr lang="en-US" sz="1300" dirty="0">
                <a:solidFill>
                  <a:srgbClr val="EFF7F3"/>
                </a:solidFill>
                <a:latin typeface="Calibri" pitchFamily="34" charset="0"/>
                <a:ea typeface="Calibri" pitchFamily="34" charset="-122"/>
                <a:cs typeface="Calibri" pitchFamily="34" charset="-120"/>
              </a:rPr>
              <a:t>Centralized packaging knowledge</a:t>
            </a:r>
            <a:endParaRPr lang="en-US" sz="1300" dirty="0"/>
          </a:p>
        </p:txBody>
      </p:sp>
      <p:sp>
        <p:nvSpPr>
          <p:cNvPr id="16" name="Text 13"/>
          <p:cNvSpPr/>
          <p:nvPr/>
        </p:nvSpPr>
        <p:spPr>
          <a:xfrm>
            <a:off x="4480560" y="1783080"/>
            <a:ext cx="36576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SUSTAINABILITY LOOP</a:t>
            </a:r>
            <a:endParaRPr lang="en-US" sz="1000" dirty="0"/>
          </a:p>
        </p:txBody>
      </p:sp>
      <p:sp>
        <p:nvSpPr>
          <p:cNvPr id="17" name="Text 14"/>
          <p:cNvSpPr/>
          <p:nvPr/>
        </p:nvSpPr>
        <p:spPr>
          <a:xfrm>
            <a:off x="4480560" y="2148840"/>
            <a:ext cx="3291840" cy="1463040"/>
          </a:xfrm>
          <a:prstGeom prst="rect">
            <a:avLst/>
          </a:prstGeom>
          <a:noFill/>
          <a:ln/>
        </p:spPr>
        <p:txBody>
          <a:bodyPr wrap="square" rtlCol="0" anchor="ctr"/>
          <a:lstStyle/>
          <a:p>
            <a:pPr algn="ctr" indent="0" marL="0">
              <a:buNone/>
            </a:pPr>
            <a:r>
              <a:rPr lang="en-US" sz="1500" dirty="0">
                <a:solidFill>
                  <a:srgbClr val="EFF7F3"/>
                </a:solidFill>
                <a:latin typeface="Calibri" pitchFamily="34" charset="0"/>
                <a:ea typeface="Calibri" pitchFamily="34" charset="-122"/>
                <a:cs typeface="Calibri" pitchFamily="34" charset="-120"/>
              </a:rPr>
              <a:t>Food → Packaging → Longer Shelf Life → Less Food Waste → Recyclable / Bio-based</a:t>
            </a:r>
            <a:endParaRPr lang="en-US" sz="1500" dirty="0"/>
          </a:p>
        </p:txBody>
      </p:sp>
      <p:sp>
        <p:nvSpPr>
          <p:cNvPr id="18" name="Text 15"/>
          <p:cNvSpPr/>
          <p:nvPr/>
        </p:nvSpPr>
        <p:spPr>
          <a:xfrm>
            <a:off x="4480560" y="3657600"/>
            <a:ext cx="3291840" cy="822960"/>
          </a:xfrm>
          <a:prstGeom prst="rect">
            <a:avLst/>
          </a:prstGeom>
          <a:noFill/>
          <a:ln/>
        </p:spPr>
        <p:txBody>
          <a:bodyPr wrap="square" rtlCol="0" anchor="ctr"/>
          <a:lstStyle/>
          <a:p>
            <a:pPr algn="ctr" indent="0" marL="0">
              <a:buNone/>
            </a:pPr>
            <a:r>
              <a:rPr lang="en-US" sz="1100" dirty="0">
                <a:solidFill>
                  <a:srgbClr val="9AB5AE"/>
                </a:solidFill>
                <a:latin typeface="Calibri" pitchFamily="34" charset="0"/>
                <a:ea typeface="Calibri" pitchFamily="34" charset="-122"/>
                <a:cs typeface="Calibri" pitchFamily="34" charset="-120"/>
              </a:rPr>
              <a:t>Monomaterial &amp; recyclable structures · bio-based alternatives · food-waste reduction potential (not yet measured)</a:t>
            </a:r>
            <a:endParaRPr lang="en-US" sz="1100" dirty="0"/>
          </a:p>
        </p:txBody>
      </p:sp>
      <p:sp>
        <p:nvSpPr>
          <p:cNvPr id="19" name="Text 16"/>
          <p:cNvSpPr/>
          <p:nvPr/>
        </p:nvSpPr>
        <p:spPr>
          <a:xfrm>
            <a:off x="8138160" y="1783080"/>
            <a:ext cx="3657600" cy="274320"/>
          </a:xfrm>
          <a:prstGeom prst="rect">
            <a:avLst/>
          </a:prstGeom>
          <a:noFill/>
          <a:ln/>
        </p:spPr>
        <p:txBody>
          <a:bodyPr wrap="square" rtlCol="0" anchor="ctr"/>
          <a:lstStyle/>
          <a:p>
            <a:pPr indent="0" marL="0">
              <a:buNone/>
            </a:pPr>
            <a:r>
              <a:rPr lang="en-US" sz="1000" b="1" spc="300" kern="0" dirty="0">
                <a:solidFill>
                  <a:srgbClr val="3FCB9A"/>
                </a:solidFill>
                <a:latin typeface="Calibri" pitchFamily="34" charset="0"/>
                <a:ea typeface="Calibri" pitchFamily="34" charset="-122"/>
                <a:cs typeface="Calibri" pitchFamily="34" charset="-120"/>
              </a:rPr>
              <a:t>ROADMAP</a:t>
            </a:r>
            <a:endParaRPr lang="en-US" sz="1000" dirty="0"/>
          </a:p>
        </p:txBody>
      </p:sp>
      <p:sp>
        <p:nvSpPr>
          <p:cNvPr id="20" name="Shape 17"/>
          <p:cNvSpPr/>
          <p:nvPr/>
        </p:nvSpPr>
        <p:spPr>
          <a:xfrm>
            <a:off x="8138160" y="2194560"/>
            <a:ext cx="310896" cy="310896"/>
          </a:xfrm>
          <a:prstGeom prst="ellipse">
            <a:avLst/>
          </a:prstGeom>
          <a:solidFill>
            <a:srgbClr val="3FCB9A"/>
          </a:solidFill>
          <a:ln w="12700">
            <a:solidFill>
              <a:srgbClr val="3FCB9A"/>
            </a:solidFill>
            <a:prstDash val="solid"/>
          </a:ln>
        </p:spPr>
      </p:sp>
      <p:sp>
        <p:nvSpPr>
          <p:cNvPr id="21" name="Text 18"/>
          <p:cNvSpPr/>
          <p:nvPr/>
        </p:nvSpPr>
        <p:spPr>
          <a:xfrm>
            <a:off x="8138160" y="2194560"/>
            <a:ext cx="310896" cy="310896"/>
          </a:xfrm>
          <a:prstGeom prst="rect">
            <a:avLst/>
          </a:prstGeom>
          <a:noFill/>
          <a:ln/>
        </p:spPr>
        <p:txBody>
          <a:bodyPr wrap="square" rtlCol="0" anchor="ctr"/>
          <a:lstStyle/>
          <a:p>
            <a:pPr algn="ctr" indent="0" marL="0">
              <a:buNone/>
            </a:pPr>
            <a:r>
              <a:rPr lang="en-US" sz="1000" dirty="0">
                <a:solidFill>
                  <a:srgbClr val="0C1D1D"/>
                </a:solidFill>
                <a:latin typeface="Calibri" pitchFamily="34" charset="0"/>
                <a:ea typeface="Calibri" pitchFamily="34" charset="-122"/>
                <a:cs typeface="Calibri" pitchFamily="34" charset="-120"/>
              </a:rPr>
              <a:t>1</a:t>
            </a:r>
            <a:endParaRPr lang="en-US" sz="1000" dirty="0"/>
          </a:p>
        </p:txBody>
      </p:sp>
      <p:sp>
        <p:nvSpPr>
          <p:cNvPr id="22" name="Text 19"/>
          <p:cNvSpPr/>
          <p:nvPr/>
        </p:nvSpPr>
        <p:spPr>
          <a:xfrm>
            <a:off x="8549640" y="2167128"/>
            <a:ext cx="310896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Phase 1 · Validated datasets</a:t>
            </a:r>
            <a:endParaRPr lang="en-US" sz="1200" dirty="0"/>
          </a:p>
        </p:txBody>
      </p:sp>
      <p:sp>
        <p:nvSpPr>
          <p:cNvPr id="23" name="Shape 20"/>
          <p:cNvSpPr/>
          <p:nvPr/>
        </p:nvSpPr>
        <p:spPr>
          <a:xfrm>
            <a:off x="8138160" y="2670048"/>
            <a:ext cx="310896" cy="310896"/>
          </a:xfrm>
          <a:prstGeom prst="ellipse">
            <a:avLst/>
          </a:prstGeom>
          <a:solidFill>
            <a:srgbClr val="0C1D1D"/>
          </a:solidFill>
          <a:ln w="12700">
            <a:solidFill>
              <a:srgbClr val="3FCB9A"/>
            </a:solidFill>
            <a:prstDash val="solid"/>
          </a:ln>
        </p:spPr>
      </p:sp>
      <p:sp>
        <p:nvSpPr>
          <p:cNvPr id="24" name="Text 21"/>
          <p:cNvSpPr/>
          <p:nvPr/>
        </p:nvSpPr>
        <p:spPr>
          <a:xfrm>
            <a:off x="8138160" y="2670048"/>
            <a:ext cx="310896" cy="310896"/>
          </a:xfrm>
          <a:prstGeom prst="rect">
            <a:avLst/>
          </a:prstGeom>
          <a:noFill/>
          <a:ln/>
        </p:spPr>
        <p:txBody>
          <a:bodyPr wrap="square" rtlCol="0" anchor="ctr"/>
          <a:lstStyle/>
          <a:p>
            <a:pPr algn="ctr" indent="0" marL="0">
              <a:buNone/>
            </a:pPr>
            <a:r>
              <a:rPr lang="en-US" sz="1000" dirty="0">
                <a:solidFill>
                  <a:srgbClr val="3FCB9A"/>
                </a:solidFill>
                <a:latin typeface="Calibri" pitchFamily="34" charset="0"/>
                <a:ea typeface="Calibri" pitchFamily="34" charset="-122"/>
                <a:cs typeface="Calibri" pitchFamily="34" charset="-120"/>
              </a:rPr>
              <a:t>2</a:t>
            </a:r>
            <a:endParaRPr lang="en-US" sz="1000" dirty="0"/>
          </a:p>
        </p:txBody>
      </p:sp>
      <p:sp>
        <p:nvSpPr>
          <p:cNvPr id="25" name="Text 22"/>
          <p:cNvSpPr/>
          <p:nvPr/>
        </p:nvSpPr>
        <p:spPr>
          <a:xfrm>
            <a:off x="8549640" y="2642616"/>
            <a:ext cx="310896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Phase 2 · Laboratory validation</a:t>
            </a:r>
            <a:endParaRPr lang="en-US" sz="1200" dirty="0"/>
          </a:p>
        </p:txBody>
      </p:sp>
      <p:sp>
        <p:nvSpPr>
          <p:cNvPr id="26" name="Shape 23"/>
          <p:cNvSpPr/>
          <p:nvPr/>
        </p:nvSpPr>
        <p:spPr>
          <a:xfrm>
            <a:off x="8138160" y="3145536"/>
            <a:ext cx="310896" cy="310896"/>
          </a:xfrm>
          <a:prstGeom prst="ellipse">
            <a:avLst/>
          </a:prstGeom>
          <a:solidFill>
            <a:srgbClr val="0C1D1D"/>
          </a:solidFill>
          <a:ln w="12700">
            <a:solidFill>
              <a:srgbClr val="3FCB9A"/>
            </a:solidFill>
            <a:prstDash val="solid"/>
          </a:ln>
        </p:spPr>
      </p:sp>
      <p:sp>
        <p:nvSpPr>
          <p:cNvPr id="27" name="Text 24"/>
          <p:cNvSpPr/>
          <p:nvPr/>
        </p:nvSpPr>
        <p:spPr>
          <a:xfrm>
            <a:off x="8138160" y="3145536"/>
            <a:ext cx="310896" cy="310896"/>
          </a:xfrm>
          <a:prstGeom prst="rect">
            <a:avLst/>
          </a:prstGeom>
          <a:noFill/>
          <a:ln/>
        </p:spPr>
        <p:txBody>
          <a:bodyPr wrap="square" rtlCol="0" anchor="ctr"/>
          <a:lstStyle/>
          <a:p>
            <a:pPr algn="ctr" indent="0" marL="0">
              <a:buNone/>
            </a:pPr>
            <a:r>
              <a:rPr lang="en-US" sz="1000" dirty="0">
                <a:solidFill>
                  <a:srgbClr val="3FCB9A"/>
                </a:solidFill>
                <a:latin typeface="Calibri" pitchFamily="34" charset="0"/>
                <a:ea typeface="Calibri" pitchFamily="34" charset="-122"/>
                <a:cs typeface="Calibri" pitchFamily="34" charset="-120"/>
              </a:rPr>
              <a:t>3</a:t>
            </a:r>
            <a:endParaRPr lang="en-US" sz="1000" dirty="0"/>
          </a:p>
        </p:txBody>
      </p:sp>
      <p:sp>
        <p:nvSpPr>
          <p:cNvPr id="28" name="Text 25"/>
          <p:cNvSpPr/>
          <p:nvPr/>
        </p:nvSpPr>
        <p:spPr>
          <a:xfrm>
            <a:off x="8549640" y="3118104"/>
            <a:ext cx="310896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Phase 3 · IoT packaging sensors</a:t>
            </a:r>
            <a:endParaRPr lang="en-US" sz="1200" dirty="0"/>
          </a:p>
        </p:txBody>
      </p:sp>
      <p:sp>
        <p:nvSpPr>
          <p:cNvPr id="29" name="Shape 26"/>
          <p:cNvSpPr/>
          <p:nvPr/>
        </p:nvSpPr>
        <p:spPr>
          <a:xfrm>
            <a:off x="8138160" y="3621024"/>
            <a:ext cx="310896" cy="310896"/>
          </a:xfrm>
          <a:prstGeom prst="ellipse">
            <a:avLst/>
          </a:prstGeom>
          <a:solidFill>
            <a:srgbClr val="0C1D1D"/>
          </a:solidFill>
          <a:ln w="12700">
            <a:solidFill>
              <a:srgbClr val="3FCB9A"/>
            </a:solidFill>
            <a:prstDash val="solid"/>
          </a:ln>
        </p:spPr>
      </p:sp>
      <p:sp>
        <p:nvSpPr>
          <p:cNvPr id="30" name="Text 27"/>
          <p:cNvSpPr/>
          <p:nvPr/>
        </p:nvSpPr>
        <p:spPr>
          <a:xfrm>
            <a:off x="8138160" y="3621024"/>
            <a:ext cx="310896" cy="310896"/>
          </a:xfrm>
          <a:prstGeom prst="rect">
            <a:avLst/>
          </a:prstGeom>
          <a:noFill/>
          <a:ln/>
        </p:spPr>
        <p:txBody>
          <a:bodyPr wrap="square" rtlCol="0" anchor="ctr"/>
          <a:lstStyle/>
          <a:p>
            <a:pPr algn="ctr" indent="0" marL="0">
              <a:buNone/>
            </a:pPr>
            <a:r>
              <a:rPr lang="en-US" sz="1000" dirty="0">
                <a:solidFill>
                  <a:srgbClr val="3FCB9A"/>
                </a:solidFill>
                <a:latin typeface="Calibri" pitchFamily="34" charset="0"/>
                <a:ea typeface="Calibri" pitchFamily="34" charset="-122"/>
                <a:cs typeface="Calibri" pitchFamily="34" charset="-120"/>
              </a:rPr>
              <a:t>4</a:t>
            </a:r>
            <a:endParaRPr lang="en-US" sz="1000" dirty="0"/>
          </a:p>
        </p:txBody>
      </p:sp>
      <p:sp>
        <p:nvSpPr>
          <p:cNvPr id="31" name="Text 28"/>
          <p:cNvSpPr/>
          <p:nvPr/>
        </p:nvSpPr>
        <p:spPr>
          <a:xfrm>
            <a:off x="8549640" y="3593592"/>
            <a:ext cx="310896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Phase 4 · Real-time shelf-life monitoring</a:t>
            </a:r>
            <a:endParaRPr lang="en-US" sz="1200" dirty="0"/>
          </a:p>
        </p:txBody>
      </p:sp>
      <p:sp>
        <p:nvSpPr>
          <p:cNvPr id="32" name="Shape 29"/>
          <p:cNvSpPr/>
          <p:nvPr/>
        </p:nvSpPr>
        <p:spPr>
          <a:xfrm>
            <a:off x="8138160" y="4096512"/>
            <a:ext cx="310896" cy="310896"/>
          </a:xfrm>
          <a:prstGeom prst="ellipse">
            <a:avLst/>
          </a:prstGeom>
          <a:solidFill>
            <a:srgbClr val="0C1D1D"/>
          </a:solidFill>
          <a:ln w="12700">
            <a:solidFill>
              <a:srgbClr val="3FCB9A"/>
            </a:solidFill>
            <a:prstDash val="solid"/>
          </a:ln>
        </p:spPr>
      </p:sp>
      <p:sp>
        <p:nvSpPr>
          <p:cNvPr id="33" name="Text 30"/>
          <p:cNvSpPr/>
          <p:nvPr/>
        </p:nvSpPr>
        <p:spPr>
          <a:xfrm>
            <a:off x="8138160" y="4096512"/>
            <a:ext cx="310896" cy="310896"/>
          </a:xfrm>
          <a:prstGeom prst="rect">
            <a:avLst/>
          </a:prstGeom>
          <a:noFill/>
          <a:ln/>
        </p:spPr>
        <p:txBody>
          <a:bodyPr wrap="square" rtlCol="0" anchor="ctr"/>
          <a:lstStyle/>
          <a:p>
            <a:pPr algn="ctr" indent="0" marL="0">
              <a:buNone/>
            </a:pPr>
            <a:r>
              <a:rPr lang="en-US" sz="1000" dirty="0">
                <a:solidFill>
                  <a:srgbClr val="3FCB9A"/>
                </a:solidFill>
                <a:latin typeface="Calibri" pitchFamily="34" charset="0"/>
                <a:ea typeface="Calibri" pitchFamily="34" charset="-122"/>
                <a:cs typeface="Calibri" pitchFamily="34" charset="-120"/>
              </a:rPr>
              <a:t>5</a:t>
            </a:r>
            <a:endParaRPr lang="en-US" sz="1000" dirty="0"/>
          </a:p>
        </p:txBody>
      </p:sp>
      <p:sp>
        <p:nvSpPr>
          <p:cNvPr id="34" name="Text 31"/>
          <p:cNvSpPr/>
          <p:nvPr/>
        </p:nvSpPr>
        <p:spPr>
          <a:xfrm>
            <a:off x="8549640" y="4069080"/>
            <a:ext cx="3108960" cy="365760"/>
          </a:xfrm>
          <a:prstGeom prst="rect">
            <a:avLst/>
          </a:prstGeom>
          <a:noFill/>
          <a:ln/>
        </p:spPr>
        <p:txBody>
          <a:bodyPr wrap="square" rtlCol="0" anchor="ctr"/>
          <a:lstStyle/>
          <a:p>
            <a:pPr indent="0" marL="0">
              <a:buNone/>
            </a:pPr>
            <a:r>
              <a:rPr lang="en-US" sz="1200" dirty="0">
                <a:solidFill>
                  <a:srgbClr val="EFF7F3"/>
                </a:solidFill>
                <a:latin typeface="Calibri" pitchFamily="34" charset="0"/>
                <a:ea typeface="Calibri" pitchFamily="34" charset="-122"/>
                <a:cs typeface="Calibri" pitchFamily="34" charset="-120"/>
              </a:rPr>
              <a:t>Phase 5 · Mobile / Edge AI deployment</a:t>
            </a:r>
            <a:endParaRPr lang="en-US" sz="1200" dirty="0"/>
          </a:p>
        </p:txBody>
      </p:sp>
      <p:sp>
        <p:nvSpPr>
          <p:cNvPr id="35" name="Shape 32"/>
          <p:cNvSpPr/>
          <p:nvPr/>
        </p:nvSpPr>
        <p:spPr>
          <a:xfrm>
            <a:off x="548640" y="4892040"/>
            <a:ext cx="11064240" cy="0"/>
          </a:xfrm>
          <a:prstGeom prst="line">
            <a:avLst/>
          </a:prstGeom>
          <a:noFill/>
          <a:ln w="12700">
            <a:solidFill>
              <a:srgbClr val="2A3D3B"/>
            </a:solidFill>
            <a:prstDash val="solid"/>
          </a:ln>
        </p:spPr>
      </p:sp>
      <p:sp>
        <p:nvSpPr>
          <p:cNvPr id="36" name="Text 33"/>
          <p:cNvSpPr/>
          <p:nvPr/>
        </p:nvSpPr>
        <p:spPr>
          <a:xfrm>
            <a:off x="548640" y="5029200"/>
            <a:ext cx="5486400" cy="822960"/>
          </a:xfrm>
          <a:prstGeom prst="rect">
            <a:avLst/>
          </a:prstGeom>
          <a:noFill/>
          <a:ln/>
        </p:spPr>
        <p:txBody>
          <a:bodyPr wrap="square" rtlCol="0" anchor="ctr"/>
          <a:lstStyle/>
          <a:p>
            <a:pPr indent="0" marL="0">
              <a:buNone/>
            </a:pPr>
            <a:r>
              <a:rPr lang="en-US" sz="4400" b="1" dirty="0">
                <a:solidFill>
                  <a:srgbClr val="EFF7F3"/>
                </a:solidFill>
                <a:latin typeface="Calibri" pitchFamily="34" charset="0"/>
                <a:ea typeface="Calibri" pitchFamily="34" charset="-122"/>
                <a:cs typeface="Calibri" pitchFamily="34" charset="-120"/>
              </a:rPr>
              <a:t>THANK YOU</a:t>
            </a:r>
            <a:endParaRPr lang="en-US" sz="4400" dirty="0"/>
          </a:p>
        </p:txBody>
      </p:sp>
      <p:sp>
        <p:nvSpPr>
          <p:cNvPr id="37" name="Text 34"/>
          <p:cNvSpPr/>
          <p:nvPr/>
        </p:nvSpPr>
        <p:spPr>
          <a:xfrm>
            <a:off x="548640" y="5806440"/>
            <a:ext cx="5486400" cy="365760"/>
          </a:xfrm>
          <a:prstGeom prst="rect">
            <a:avLst/>
          </a:prstGeom>
          <a:noFill/>
          <a:ln/>
        </p:spPr>
        <p:txBody>
          <a:bodyPr wrap="square" rtlCol="0" anchor="ctr"/>
          <a:lstStyle/>
          <a:p>
            <a:pPr indent="0" marL="0">
              <a:buNone/>
            </a:pPr>
            <a:r>
              <a:rPr lang="en-US" sz="1600" dirty="0">
                <a:solidFill>
                  <a:srgbClr val="9AB5AE"/>
                </a:solidFill>
                <a:latin typeface="Calibri" pitchFamily="34" charset="0"/>
                <a:ea typeface="Calibri" pitchFamily="34" charset="-122"/>
                <a:cs typeface="Calibri" pitchFamily="34" charset="-120"/>
              </a:rPr>
              <a:t>Questions &amp; Discussion</a:t>
            </a:r>
            <a:endParaRPr lang="en-US" sz="1600" dirty="0"/>
          </a:p>
        </p:txBody>
      </p:sp>
      <p:sp>
        <p:nvSpPr>
          <p:cNvPr id="38" name="Text 35"/>
          <p:cNvSpPr/>
          <p:nvPr/>
        </p:nvSpPr>
        <p:spPr>
          <a:xfrm>
            <a:off x="5943600" y="5577840"/>
            <a:ext cx="5669280" cy="457200"/>
          </a:xfrm>
          <a:prstGeom prst="rect">
            <a:avLst/>
          </a:prstGeom>
          <a:noFill/>
          <a:ln/>
        </p:spPr>
        <p:txBody>
          <a:bodyPr wrap="square" rtlCol="0" anchor="ctr"/>
          <a:lstStyle/>
          <a:p>
            <a:pPr algn="r" indent="0" marL="0">
              <a:buNone/>
            </a:pPr>
            <a:r>
              <a:rPr lang="en-US" sz="1600" i="1" dirty="0">
                <a:solidFill>
                  <a:srgbClr val="BDEBD6"/>
                </a:solidFill>
                <a:latin typeface="Calibri" pitchFamily="34" charset="0"/>
                <a:ea typeface="Calibri" pitchFamily="34" charset="-122"/>
                <a:cs typeface="Calibri" pitchFamily="34" charset="-120"/>
              </a:rPr>
              <a:t>"Smarter Packaging. Safer Food. Sustainable Future."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PackSci AI — Project Defense</dc:title>
  <dc:subject>PptxGenJS Presentation</dc:subject>
  <dc:creator>Likith T M, Mokshith H C</dc:creator>
  <cp:lastModifiedBy>Likith T M, Mokshith H C</cp:lastModifiedBy>
  <cp:revision>1</cp:revision>
  <dcterms:created xsi:type="dcterms:W3CDTF">2026-09-30T04:31:26Z</dcterms:created>
  <dcterms:modified xsi:type="dcterms:W3CDTF">2026-09-30T04:31:26Z</dcterms:modified>
</cp:coreProperties>
</file>